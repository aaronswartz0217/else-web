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3" r:id="rId3"/>
    <p:sldId id="276" r:id="rId4"/>
    <p:sldId id="265" r:id="rId5"/>
    <p:sldId id="287" r:id="rId6"/>
    <p:sldId id="285" r:id="rId7"/>
    <p:sldId id="284" r:id="rId8"/>
    <p:sldId id="277" r:id="rId9"/>
    <p:sldId id="266" r:id="rId10"/>
    <p:sldId id="280" r:id="rId11"/>
    <p:sldId id="281" r:id="rId12"/>
    <p:sldId id="282" r:id="rId13"/>
    <p:sldId id="257" r:id="rId14"/>
    <p:sldId id="283" r:id="rId15"/>
    <p:sldId id="261" r:id="rId16"/>
    <p:sldId id="262" r:id="rId17"/>
    <p:sldId id="274" r:id="rId18"/>
    <p:sldId id="260" r:id="rId19"/>
    <p:sldId id="258" r:id="rId20"/>
    <p:sldId id="272" r:id="rId21"/>
    <p:sldId id="279" r:id="rId22"/>
    <p:sldId id="267" r:id="rId23"/>
    <p:sldId id="268" r:id="rId24"/>
    <p:sldId id="269" r:id="rId25"/>
    <p:sldId id="270" r:id="rId26"/>
    <p:sldId id="271" r:id="rId27"/>
    <p:sldId id="275" r:id="rId28"/>
    <p:sldId id="264" r:id="rId29"/>
    <p:sldId id="286" r:id="rId30"/>
    <p:sldId id="263" r:id="rId31"/>
  </p:sldIdLst>
  <p:sldSz cx="18288000" cy="10287000"/>
  <p:notesSz cx="6858000" cy="9144000"/>
  <p:embeddedFontLst>
    <p:embeddedFont>
      <p:font typeface="IPAex 明朝" panose="02010600030101010101" charset="-128"/>
      <p:regular r:id="rId32"/>
    </p:embeddedFont>
    <p:embeddedFont>
      <p:font typeface="梅明朝" panose="02010600030101010101" charset="-128"/>
      <p:regular r:id="rId33"/>
    </p:embeddedFont>
    <p:embeddedFont>
      <p:font typeface="Crimson Pro" panose="02010600030101010101" charset="0"/>
      <p:regular r:id="rId34"/>
    </p:embeddedFont>
    <p:embeddedFont>
      <p:font typeface="TT Ramillas Bold" panose="02010600030101010101" charset="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33" autoAdjust="0"/>
    <p:restoredTop sz="94622" autoAdjust="0"/>
  </p:normalViewPr>
  <p:slideViewPr>
    <p:cSldViewPr>
      <p:cViewPr varScale="1">
        <p:scale>
          <a:sx n="65" d="100"/>
          <a:sy n="65" d="100"/>
        </p:scale>
        <p:origin x="752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aaronswartz0217.github.io/Else-Web/introduction.html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18.png"/><Relationship Id="rId10" Type="http://schemas.openxmlformats.org/officeDocument/2006/relationships/image" Target="../media/image29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hyperlink" Target="https://github.com/AaronSwartz0217/BLENDER-PYTHON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945718"/>
            <a:ext cx="2636098" cy="32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8"/>
              </a:lnSpc>
            </a:pPr>
            <a:r>
              <a:rPr lang="en-US" sz="2408" dirty="0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2971762643@qq.com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26848" y="8827076"/>
            <a:ext cx="6012386" cy="1867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5"/>
              </a:lnSpc>
            </a:pPr>
            <a:r>
              <a:rPr lang="en-US" sz="7195" b="1" dirty="0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PORTFOLIO</a:t>
            </a:r>
          </a:p>
          <a:p>
            <a:pPr algn="l">
              <a:lnSpc>
                <a:spcPts val="7195"/>
              </a:lnSpc>
            </a:pPr>
            <a:endParaRPr lang="en-US" sz="7195" b="1" dirty="0">
              <a:solidFill>
                <a:srgbClr val="FFFFFF"/>
              </a:solidFill>
              <a:latin typeface="TT Ramillas Bold"/>
              <a:ea typeface="TT Ramillas Bold"/>
              <a:cs typeface="TT Ramillas Bold"/>
              <a:sym typeface="TT Ramilla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8338244"/>
            <a:ext cx="4092532" cy="474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8"/>
              </a:lnSpc>
            </a:pPr>
            <a:r>
              <a:rPr lang="en-US" sz="3738" dirty="0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李东盛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7581768"/>
            <a:ext cx="2636098" cy="32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8"/>
              </a:lnSpc>
            </a:pPr>
            <a:r>
              <a:rPr lang="en-US" sz="2408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18098302488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0" y="66256"/>
            <a:ext cx="10198124" cy="5665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210"/>
              </a:lnSpc>
              <a:spcBef>
                <a:spcPct val="0"/>
              </a:spcBef>
            </a:pPr>
            <a:r>
              <a:rPr lang="zh-CN" altLang="en-US" sz="120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作品集</a:t>
            </a:r>
            <a:endParaRPr lang="en-US" sz="12000" dirty="0">
              <a:solidFill>
                <a:srgbClr val="FFFFFF"/>
              </a:solidFill>
              <a:latin typeface="梅明朝"/>
              <a:ea typeface="梅明朝"/>
              <a:cs typeface="梅明朝"/>
              <a:sym typeface="梅明朝"/>
            </a:endParaRPr>
          </a:p>
        </p:txBody>
      </p:sp>
      <p:sp>
        <p:nvSpPr>
          <p:cNvPr id="8" name="文本框 7">
            <a:hlinkClick r:id="rId2"/>
            <a:extLst>
              <a:ext uri="{FF2B5EF4-FFF2-40B4-BE49-F238E27FC236}">
                <a16:creationId xmlns:a16="http://schemas.microsoft.com/office/drawing/2014/main" id="{A683A370-C9DA-2AA6-6494-379A283E55A7}"/>
              </a:ext>
            </a:extLst>
          </p:cNvPr>
          <p:cNvSpPr txBox="1"/>
          <p:nvPr/>
        </p:nvSpPr>
        <p:spPr>
          <a:xfrm>
            <a:off x="907183" y="9553161"/>
            <a:ext cx="111252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8"/>
              </a:lnSpc>
            </a:pPr>
            <a:r>
              <a:rPr lang="en-US" altLang="zh-CN" sz="2800" dirty="0"/>
              <a:t>https://aaronswartz0217.github.io/Else-Web/introduction.html</a:t>
            </a:r>
            <a:endParaRPr lang="en-US" altLang="zh-CN" sz="2408" b="1" dirty="0">
              <a:solidFill>
                <a:srgbClr val="FFFFFF"/>
              </a:solidFill>
              <a:latin typeface="Crimson Pro"/>
              <a:ea typeface="Crimson Pro"/>
              <a:cs typeface="Crimson Pro"/>
              <a:sym typeface="Crimson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A1CF1-32DB-6852-9B2E-2C3971F94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7F18BBEF-F64B-094E-46A3-B31962902D5E}"/>
              </a:ext>
            </a:extLst>
          </p:cNvPr>
          <p:cNvSpPr txBox="1"/>
          <p:nvPr/>
        </p:nvSpPr>
        <p:spPr>
          <a:xfrm>
            <a:off x="304800" y="495300"/>
            <a:ext cx="6012386" cy="189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5"/>
              </a:lnSpc>
            </a:pPr>
            <a:r>
              <a:rPr lang="en-US" sz="8800" b="1" dirty="0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CONTENT</a:t>
            </a:r>
          </a:p>
          <a:p>
            <a:pPr algn="l">
              <a:lnSpc>
                <a:spcPts val="7195"/>
              </a:lnSpc>
            </a:pPr>
            <a:endParaRPr lang="en-US" sz="7195" b="1" dirty="0">
              <a:solidFill>
                <a:srgbClr val="FFFFFF"/>
              </a:solidFill>
              <a:latin typeface="TT Ramillas Bold"/>
              <a:ea typeface="TT Ramillas Bold"/>
              <a:cs typeface="TT Ramillas Bold"/>
              <a:sym typeface="TT Ramillas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1132F3F-5658-C997-41AD-9F90809D6277}"/>
              </a:ext>
            </a:extLst>
          </p:cNvPr>
          <p:cNvSpPr txBox="1"/>
          <p:nvPr/>
        </p:nvSpPr>
        <p:spPr>
          <a:xfrm>
            <a:off x="5867400" y="1714500"/>
            <a:ext cx="10198124" cy="11799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endParaRPr lang="en-US" altLang="zh-CN" sz="9600" dirty="0">
              <a:solidFill>
                <a:srgbClr val="FFFFFF"/>
              </a:solidFill>
              <a:latin typeface="梅明朝"/>
              <a:ea typeface="梅明朝"/>
            </a:endParaRPr>
          </a:p>
          <a:p>
            <a:r>
              <a:rPr lang="zh-CN" altLang="zh-CN" sz="7200" dirty="0">
                <a:solidFill>
                  <a:srgbClr val="FFFFFF"/>
                </a:solidFill>
                <a:latin typeface="梅明朝"/>
                <a:ea typeface="梅明朝"/>
              </a:rPr>
              <a:t>01 3D设计与场景</a:t>
            </a:r>
          </a:p>
          <a:p>
            <a:r>
              <a:rPr lang="zh-CN" altLang="zh-CN" sz="7200" dirty="0">
                <a:solidFill>
                  <a:srgbClr val="FFFFFF"/>
                </a:solidFill>
                <a:latin typeface="梅明朝"/>
                <a:ea typeface="梅明朝"/>
              </a:rPr>
              <a:t>02 技术美术与特效</a:t>
            </a:r>
          </a:p>
          <a:p>
            <a:r>
              <a:rPr lang="zh-CN" altLang="zh-CN" sz="7200" dirty="0">
                <a:solidFill>
                  <a:srgbClr val="FFFFFF"/>
                </a:solidFill>
                <a:latin typeface="梅明朝"/>
                <a:ea typeface="梅明朝"/>
              </a:rPr>
              <a:t>03 虚幻五蓝图</a:t>
            </a:r>
          </a:p>
          <a:p>
            <a:r>
              <a:rPr lang="zh-CN" altLang="zh-CN" sz="7200" dirty="0">
                <a:solidFill>
                  <a:srgbClr val="FFFFFF"/>
                </a:solidFill>
                <a:latin typeface="梅明朝"/>
                <a:ea typeface="梅明朝"/>
              </a:rPr>
              <a:t>04 横向领域拓展</a:t>
            </a:r>
          </a:p>
          <a:p>
            <a:pPr marL="0" lvl="0" indent="0" algn="ctr">
              <a:lnSpc>
                <a:spcPts val="56210"/>
              </a:lnSpc>
              <a:spcBef>
                <a:spcPct val="0"/>
              </a:spcBef>
            </a:pPr>
            <a:endParaRPr lang="en-US" sz="9600" dirty="0">
              <a:solidFill>
                <a:srgbClr val="FFFFFF"/>
              </a:solidFill>
              <a:latin typeface="梅明朝"/>
              <a:ea typeface="梅明朝"/>
              <a:cs typeface="梅明朝"/>
              <a:sym typeface="梅明朝"/>
            </a:endParaRPr>
          </a:p>
        </p:txBody>
      </p:sp>
    </p:spTree>
    <p:extLst>
      <p:ext uri="{BB962C8B-B14F-4D97-AF65-F5344CB8AC3E}">
        <p14:creationId xmlns:p14="http://schemas.microsoft.com/office/powerpoint/2010/main" val="359887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76797-F119-79A3-14A1-7067284C3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86AF991-8F65-3511-C6B3-30EBDD718551}"/>
              </a:ext>
            </a:extLst>
          </p:cNvPr>
          <p:cNvSpPr txBox="1"/>
          <p:nvPr/>
        </p:nvSpPr>
        <p:spPr>
          <a:xfrm>
            <a:off x="1028700" y="7945718"/>
            <a:ext cx="2636098" cy="32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8"/>
              </a:lnSpc>
            </a:pPr>
            <a:r>
              <a:rPr lang="en-US" sz="2408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2971762643@qq.com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8E33763-1D53-448B-D633-1B717A9BEBD0}"/>
              </a:ext>
            </a:extLst>
          </p:cNvPr>
          <p:cNvSpPr txBox="1"/>
          <p:nvPr/>
        </p:nvSpPr>
        <p:spPr>
          <a:xfrm>
            <a:off x="926848" y="8827076"/>
            <a:ext cx="6012386" cy="1867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5"/>
              </a:lnSpc>
            </a:pPr>
            <a:r>
              <a:rPr lang="en-US" sz="7195" b="1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PORTFOLIO</a:t>
            </a:r>
          </a:p>
          <a:p>
            <a:pPr algn="l">
              <a:lnSpc>
                <a:spcPts val="7195"/>
              </a:lnSpc>
            </a:pPr>
            <a:endParaRPr lang="en-US" sz="7195" b="1">
              <a:solidFill>
                <a:srgbClr val="FFFFFF"/>
              </a:solidFill>
              <a:latin typeface="TT Ramillas Bold"/>
              <a:ea typeface="TT Ramillas Bold"/>
              <a:cs typeface="TT Ramillas Bold"/>
              <a:sym typeface="TT Ramillas Bold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C1D5139-A2B9-4E08-72C9-ED6003BD6950}"/>
              </a:ext>
            </a:extLst>
          </p:cNvPr>
          <p:cNvSpPr txBox="1"/>
          <p:nvPr/>
        </p:nvSpPr>
        <p:spPr>
          <a:xfrm>
            <a:off x="1028700" y="8338244"/>
            <a:ext cx="4092532" cy="474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8"/>
              </a:lnSpc>
            </a:pPr>
            <a:r>
              <a:rPr lang="en-US" sz="3738" dirty="0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李东盛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7095205-EBC0-D04D-5192-CBC62078FD84}"/>
              </a:ext>
            </a:extLst>
          </p:cNvPr>
          <p:cNvSpPr txBox="1"/>
          <p:nvPr/>
        </p:nvSpPr>
        <p:spPr>
          <a:xfrm>
            <a:off x="1028700" y="7581768"/>
            <a:ext cx="2636098" cy="32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8"/>
              </a:lnSpc>
            </a:pPr>
            <a:r>
              <a:rPr lang="en-US" sz="2408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18098302488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452B2C0-526C-BC29-1A7F-F5A00E1387AD}"/>
              </a:ext>
            </a:extLst>
          </p:cNvPr>
          <p:cNvSpPr txBox="1"/>
          <p:nvPr/>
        </p:nvSpPr>
        <p:spPr>
          <a:xfrm>
            <a:off x="5087073" y="129710"/>
            <a:ext cx="10198124" cy="561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210"/>
              </a:lnSpc>
              <a:spcBef>
                <a:spcPct val="0"/>
              </a:spcBef>
            </a:pPr>
            <a:r>
              <a:rPr lang="en-US" altLang="zh-CN" sz="96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3D</a:t>
            </a:r>
            <a:r>
              <a:rPr lang="zh-CN" altLang="en-US" sz="96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设计与场景</a:t>
            </a:r>
            <a:endParaRPr lang="en-US" sz="9600" dirty="0">
              <a:solidFill>
                <a:srgbClr val="FFFFFF"/>
              </a:solidFill>
              <a:latin typeface="梅明朝"/>
              <a:ea typeface="梅明朝"/>
              <a:cs typeface="梅明朝"/>
              <a:sym typeface="梅明朝"/>
            </a:endParaRPr>
          </a:p>
        </p:txBody>
      </p:sp>
    </p:spTree>
    <p:extLst>
      <p:ext uri="{BB962C8B-B14F-4D97-AF65-F5344CB8AC3E}">
        <p14:creationId xmlns:p14="http://schemas.microsoft.com/office/powerpoint/2010/main" val="1829487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BAFDB8-4523-268F-BDFD-8329C0107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C886788-700E-4D20-9F80-E0E96837A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1850674C-4E08-4C62-A3E2-6337FE4F7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38570" cy="10287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BCE4FF05-2B0C-4C97-A9B4-E163085A9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23330" cy="10287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6E8251E-571C-E1A8-696E-C77A2188C948}"/>
              </a:ext>
            </a:extLst>
          </p:cNvPr>
          <p:cNvSpPr txBox="1"/>
          <p:nvPr/>
        </p:nvSpPr>
        <p:spPr>
          <a:xfrm>
            <a:off x="713232" y="1687068"/>
            <a:ext cx="6035040" cy="4800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7200" dirty="0">
                <a:latin typeface="+mj-lt"/>
                <a:ea typeface="+mj-ea"/>
                <a:cs typeface="+mj-cs"/>
                <a:sym typeface="IPAex 明朝"/>
              </a:rPr>
              <a:t>场景建模</a:t>
            </a:r>
            <a:r>
              <a:rPr lang="en-US" altLang="zh-CN" sz="7200" dirty="0">
                <a:latin typeface="+mj-lt"/>
                <a:ea typeface="+mj-ea"/>
                <a:cs typeface="+mj-cs"/>
                <a:sym typeface="IPAex 明朝"/>
              </a:rPr>
              <a:t>/</a:t>
            </a:r>
            <a:r>
              <a:rPr lang="zh-CN" altLang="en-US" sz="7200" dirty="0">
                <a:latin typeface="+mj-lt"/>
                <a:ea typeface="+mj-ea"/>
                <a:cs typeface="+mj-cs"/>
                <a:sym typeface="IPAex 明朝"/>
              </a:rPr>
              <a:t>渲染</a:t>
            </a:r>
            <a:endParaRPr lang="en-US" sz="7200" dirty="0">
              <a:latin typeface="+mj-lt"/>
              <a:ea typeface="+mj-ea"/>
              <a:cs typeface="+mj-cs"/>
              <a:sym typeface="IPAex 明朝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29C2A7A-A6B6-4A56-B11C-8E967D88A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39882" y="520187"/>
            <a:ext cx="219456" cy="10561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8C68B8B-80E6-7C0F-E2B8-73B6029AE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87" y="2434484"/>
            <a:ext cx="6647896" cy="2709016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FDBD7205-E536-4134-8768-AC3E1A3C5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43" y="6820380"/>
            <a:ext cx="6035040" cy="27432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F32221E0-A9A5-A3FD-BB7E-6579E0D770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5524501"/>
            <a:ext cx="7315200" cy="444398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59ACB8E-C87A-BDE4-484D-49DF1A7999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3662" y="717016"/>
            <a:ext cx="7543800" cy="403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486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E9C670-D1CC-A3CC-D7C3-1A85F0123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9">
            <a:extLst>
              <a:ext uri="{FF2B5EF4-FFF2-40B4-BE49-F238E27FC236}">
                <a16:creationId xmlns:a16="http://schemas.microsoft.com/office/drawing/2014/main" id="{B96FC576-AE30-4C09-A12C-0582F2A6A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F74F615-C1D8-C8B0-4BF1-8930437EB1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929"/>
          <a:stretch>
            <a:fillRect/>
          </a:stretch>
        </p:blipFill>
        <p:spPr>
          <a:xfrm>
            <a:off x="-4572" y="4998659"/>
            <a:ext cx="9148572" cy="514349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4370C22-8123-E68C-2E64-74E793080B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" r="-2" b="-2"/>
          <a:stretch>
            <a:fillRect/>
          </a:stretch>
        </p:blipFill>
        <p:spPr>
          <a:xfrm>
            <a:off x="9139428" y="10"/>
            <a:ext cx="9148572" cy="514349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AC61DBC-D5F7-3ED4-8AB0-DCD2BD6101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" r="-2" b="-2"/>
          <a:stretch>
            <a:fillRect/>
          </a:stretch>
        </p:blipFill>
        <p:spPr>
          <a:xfrm>
            <a:off x="-9144" y="15977"/>
            <a:ext cx="9148572" cy="51435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6E462D2-52A0-465A-BEDA-513E7E1810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48"/>
          <a:stretch>
            <a:fillRect/>
          </a:stretch>
        </p:blipFill>
        <p:spPr>
          <a:xfrm>
            <a:off x="9139428" y="5143500"/>
            <a:ext cx="9148572" cy="51435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F83DC288-6003-262E-07B7-2A34551C11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101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2324100"/>
            <a:ext cx="9711244" cy="524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842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AE4761-EE95-ADF6-82C4-889F52F5C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A96E56D-9CDA-56AC-EA8B-267E2B8953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71" r="1" b="1"/>
          <a:stretch>
            <a:fillRect/>
          </a:stretch>
        </p:blipFill>
        <p:spPr>
          <a:xfrm>
            <a:off x="6740154" y="364"/>
            <a:ext cx="11547846" cy="5020058"/>
          </a:xfrm>
          <a:custGeom>
            <a:avLst/>
            <a:gdLst/>
            <a:ahLst/>
            <a:cxnLst/>
            <a:rect l="l" t="t" r="r" b="b"/>
            <a:pathLst>
              <a:path w="7698564" h="3346705">
                <a:moveTo>
                  <a:pt x="1549963" y="0"/>
                </a:moveTo>
                <a:lnTo>
                  <a:pt x="1555540" y="0"/>
                </a:lnTo>
                <a:lnTo>
                  <a:pt x="2621768" y="0"/>
                </a:lnTo>
                <a:lnTo>
                  <a:pt x="6451640" y="0"/>
                </a:lnTo>
                <a:lnTo>
                  <a:pt x="6451640" y="479"/>
                </a:lnTo>
                <a:lnTo>
                  <a:pt x="7698564" y="479"/>
                </a:lnTo>
                <a:lnTo>
                  <a:pt x="7698564" y="3346705"/>
                </a:lnTo>
                <a:lnTo>
                  <a:pt x="0" y="3346705"/>
                </a:lnTo>
                <a:close/>
              </a:path>
            </a:pathLst>
          </a:cu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74644BC-B296-0AA6-779D-28907C4201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37" r="2" b="2"/>
          <a:stretch>
            <a:fillRect/>
          </a:stretch>
        </p:blipFill>
        <p:spPr>
          <a:xfrm>
            <a:off x="20" y="-202344"/>
            <a:ext cx="9143980" cy="5222401"/>
          </a:xfrm>
          <a:custGeom>
            <a:avLst/>
            <a:gdLst/>
            <a:ahLst/>
            <a:cxnLst/>
            <a:rect l="l" t="t" r="r" b="b"/>
            <a:pathLst>
              <a:path w="5859797" h="3346705">
                <a:moveTo>
                  <a:pt x="0" y="0"/>
                </a:moveTo>
                <a:lnTo>
                  <a:pt x="5859797" y="0"/>
                </a:lnTo>
                <a:lnTo>
                  <a:pt x="4309834" y="3346705"/>
                </a:lnTo>
                <a:lnTo>
                  <a:pt x="4304257" y="3346705"/>
                </a:lnTo>
                <a:lnTo>
                  <a:pt x="3238029" y="3346705"/>
                </a:lnTo>
                <a:lnTo>
                  <a:pt x="0" y="3346705"/>
                </a:lnTo>
                <a:close/>
              </a:path>
            </a:pathLst>
          </a:cu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7867D53-4F55-F6A5-3345-57069FF513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9" r="-1" b="-1"/>
          <a:stretch>
            <a:fillRect/>
          </a:stretch>
        </p:blipFill>
        <p:spPr>
          <a:xfrm>
            <a:off x="9525000" y="5020057"/>
            <a:ext cx="9220200" cy="5282054"/>
          </a:xfrm>
          <a:custGeom>
            <a:avLst/>
            <a:gdLst/>
            <a:ahLst/>
            <a:cxnLst/>
            <a:rect l="l" t="t" r="r" b="b"/>
            <a:pathLst>
              <a:path w="5841911" h="3346705">
                <a:moveTo>
                  <a:pt x="1549963" y="0"/>
                </a:moveTo>
                <a:lnTo>
                  <a:pt x="1555540" y="0"/>
                </a:lnTo>
                <a:lnTo>
                  <a:pt x="2621768" y="0"/>
                </a:lnTo>
                <a:lnTo>
                  <a:pt x="5841911" y="0"/>
                </a:lnTo>
                <a:lnTo>
                  <a:pt x="5841911" y="3346705"/>
                </a:lnTo>
                <a:lnTo>
                  <a:pt x="0" y="3346705"/>
                </a:lnTo>
                <a:close/>
              </a:path>
            </a:pathLst>
          </a:cu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2B76F35-A287-68DD-A683-82DD40E0B7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99" r="2" b="2"/>
          <a:stretch>
            <a:fillRect/>
          </a:stretch>
        </p:blipFill>
        <p:spPr>
          <a:xfrm>
            <a:off x="19" y="5020057"/>
            <a:ext cx="12115745" cy="5266943"/>
          </a:xfrm>
          <a:custGeom>
            <a:avLst/>
            <a:gdLst/>
            <a:ahLst/>
            <a:cxnLst/>
            <a:rect l="l" t="t" r="r" b="b"/>
            <a:pathLst>
              <a:path w="7698564" h="3346705">
                <a:moveTo>
                  <a:pt x="0" y="0"/>
                </a:moveTo>
                <a:lnTo>
                  <a:pt x="7698564" y="0"/>
                </a:lnTo>
                <a:lnTo>
                  <a:pt x="6148601" y="3346705"/>
                </a:lnTo>
                <a:lnTo>
                  <a:pt x="6143024" y="3346705"/>
                </a:lnTo>
                <a:lnTo>
                  <a:pt x="5076796" y="3346705"/>
                </a:lnTo>
                <a:lnTo>
                  <a:pt x="1246924" y="3346705"/>
                </a:lnTo>
                <a:lnTo>
                  <a:pt x="1246924" y="3346226"/>
                </a:lnTo>
                <a:lnTo>
                  <a:pt x="0" y="3346226"/>
                </a:lnTo>
                <a:close/>
              </a:path>
            </a:pathLst>
          </a:cu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96D839A8-ABE8-2926-C7F2-13223F96B432}"/>
              </a:ext>
            </a:extLst>
          </p:cNvPr>
          <p:cNvSpPr txBox="1"/>
          <p:nvPr/>
        </p:nvSpPr>
        <p:spPr>
          <a:xfrm>
            <a:off x="1502526" y="255618"/>
            <a:ext cx="15268401" cy="19930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7800" kern="1200" dirty="0">
              <a:solidFill>
                <a:schemeClr val="tx1"/>
              </a:solidFill>
              <a:latin typeface="+mj-lt"/>
              <a:ea typeface="+mj-ea"/>
              <a:cs typeface="+mj-cs"/>
              <a:sym typeface="IPAex 明朝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998AA1DC-3059-04E9-5C40-A088DBDEBF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101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2396905"/>
            <a:ext cx="9711244" cy="524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92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74D62A-A732-B325-14A3-36062C5CA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8283427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F80872A-156D-BBF2-CB6F-73FF49E06CD4}"/>
              </a:ext>
            </a:extLst>
          </p:cNvPr>
          <p:cNvSpPr txBox="1"/>
          <p:nvPr/>
        </p:nvSpPr>
        <p:spPr>
          <a:xfrm>
            <a:off x="1502526" y="255618"/>
            <a:ext cx="15268401" cy="199309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78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IPAex 明朝"/>
              </a:rPr>
              <a:t>植物资产展示</a:t>
            </a:r>
            <a:endParaRPr lang="en-US" sz="7800" kern="1200">
              <a:solidFill>
                <a:schemeClr val="tx1"/>
              </a:solidFill>
              <a:latin typeface="+mj-lt"/>
              <a:ea typeface="+mj-ea"/>
              <a:cs typeface="+mj-cs"/>
              <a:sym typeface="IPAex 明朝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B6F5509-9A80-72E1-4D95-7493D657AB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" r="-2" b="16902"/>
          <a:stretch>
            <a:fillRect/>
          </a:stretch>
        </p:blipFill>
        <p:spPr>
          <a:xfrm>
            <a:off x="298111" y="3615672"/>
            <a:ext cx="8704985" cy="583553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D0D9FD3-148A-48F8-50C5-E7B5D6778C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3" b="-2"/>
          <a:stretch>
            <a:fillRect/>
          </a:stretch>
        </p:blipFill>
        <p:spPr>
          <a:xfrm>
            <a:off x="9284901" y="3615672"/>
            <a:ext cx="8704984" cy="5835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342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886FF-2A9F-6275-1322-CC872230D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7D1A5FDB-D880-BAE3-964C-26235081AEFA}"/>
              </a:ext>
            </a:extLst>
          </p:cNvPr>
          <p:cNvSpPr txBox="1"/>
          <p:nvPr/>
        </p:nvSpPr>
        <p:spPr>
          <a:xfrm>
            <a:off x="-619085" y="1354980"/>
            <a:ext cx="9271595" cy="817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35"/>
              </a:lnSpc>
              <a:spcBef>
                <a:spcPct val="0"/>
              </a:spcBef>
            </a:pPr>
            <a:r>
              <a:rPr lang="en-US" altLang="zh-CN" sz="4400" dirty="0" err="1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maxVray</a:t>
            </a:r>
            <a:r>
              <a:rPr lang="zh-CN" altLang="en-US" sz="4400" dirty="0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渲染</a:t>
            </a:r>
            <a:endParaRPr lang="en-US" sz="4400" dirty="0">
              <a:solidFill>
                <a:srgbClr val="FFFFFF"/>
              </a:solidFill>
              <a:latin typeface="IPAex 明朝"/>
              <a:ea typeface="IPAex 明朝"/>
              <a:cs typeface="IPAex 明朝"/>
              <a:sym typeface="IPAex 明朝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FBC81F3-A4BE-D825-5318-4A708BEB77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9289" y="2400300"/>
            <a:ext cx="10820902" cy="861000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73088CA-F1AC-57D5-6DD0-863DC048E766}"/>
              </a:ext>
            </a:extLst>
          </p:cNvPr>
          <p:cNvSpPr txBox="1"/>
          <p:nvPr/>
        </p:nvSpPr>
        <p:spPr>
          <a:xfrm>
            <a:off x="8921309" y="1354980"/>
            <a:ext cx="9586561" cy="89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ts val="6735"/>
              </a:lnSpc>
              <a:spcBef>
                <a:spcPct val="0"/>
              </a:spcBef>
            </a:pPr>
            <a:r>
              <a:rPr lang="en-US" altLang="zh-CN" sz="4400" dirty="0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UE</a:t>
            </a:r>
            <a:r>
              <a:rPr lang="zh-CN" altLang="en-US" sz="4400" dirty="0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渲染（通过自研工作流迁移）</a:t>
            </a:r>
            <a:endParaRPr lang="en-US" altLang="zh-CN" sz="4400" dirty="0">
              <a:solidFill>
                <a:srgbClr val="FFFFFF"/>
              </a:solidFill>
              <a:latin typeface="IPAex 明朝"/>
              <a:ea typeface="IPAex 明朝"/>
              <a:cs typeface="IPAex 明朝"/>
              <a:sym typeface="IPAex 明朝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A6FA9E4-09A0-9DBB-744B-4CC0C3170E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5457" y="2400300"/>
            <a:ext cx="8684340" cy="868434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24DB968-0D98-EF25-D16A-7C3E2A7C43EA}"/>
              </a:ext>
            </a:extLst>
          </p:cNvPr>
          <p:cNvSpPr txBox="1"/>
          <p:nvPr/>
        </p:nvSpPr>
        <p:spPr>
          <a:xfrm>
            <a:off x="-1569420" y="-53878"/>
            <a:ext cx="10186826" cy="894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ts val="6735"/>
              </a:lnSpc>
              <a:spcBef>
                <a:spcPct val="0"/>
              </a:spcBef>
            </a:pPr>
            <a:r>
              <a:rPr lang="zh-CN" altLang="en-US" sz="4811" dirty="0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部分场景渲染</a:t>
            </a:r>
            <a:endParaRPr lang="en-US" altLang="zh-CN" sz="4811" dirty="0">
              <a:solidFill>
                <a:srgbClr val="FFFFFF"/>
              </a:solidFill>
              <a:latin typeface="IPAex 明朝"/>
              <a:ea typeface="IPAex 明朝"/>
              <a:cs typeface="IPAex 明朝"/>
              <a:sym typeface="IPAex 明朝"/>
            </a:endParaRPr>
          </a:p>
        </p:txBody>
      </p:sp>
    </p:spTree>
    <p:extLst>
      <p:ext uri="{BB962C8B-B14F-4D97-AF65-F5344CB8AC3E}">
        <p14:creationId xmlns:p14="http://schemas.microsoft.com/office/powerpoint/2010/main" val="578048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984226-C5D3-BE0D-B397-8E5E74B05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A93898FF-D987-4B0E-BFB4-85F5EB356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8283428" cy="10286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12F383F-B981-4BC3-9E2B-7BE938CE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600"/>
            <a:ext cx="18283428" cy="10287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AA485AD-076E-4077-A6E6-C3C9F0C39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D088DBDF-80D5-4FC0-8A54-9D660B728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" y="0"/>
            <a:ext cx="18271758" cy="10287000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58D235B8-3D10-493F-88AC-84BB404C1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A448A44-CBA0-C66C-543F-C4F69CA54D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30353"/>
          <a:stretch>
            <a:fillRect/>
          </a:stretch>
        </p:blipFill>
        <p:spPr>
          <a:xfrm>
            <a:off x="20" y="10"/>
            <a:ext cx="9145543" cy="514349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0897059-1EB8-AF1C-A106-D363458BBCD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25" b="13722"/>
          <a:stretch>
            <a:fillRect/>
          </a:stretch>
        </p:blipFill>
        <p:spPr>
          <a:xfrm>
            <a:off x="9147633" y="10"/>
            <a:ext cx="9140367" cy="514349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9A83971-62A8-A93C-BA44-B5836A8DAF2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08"/>
          <a:stretch>
            <a:fillRect/>
          </a:stretch>
        </p:blipFill>
        <p:spPr>
          <a:xfrm>
            <a:off x="10992" y="5143500"/>
            <a:ext cx="9140367" cy="51435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724C947-FA37-1327-AD58-B16734074DB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"/>
          <a:stretch>
            <a:fillRect/>
          </a:stretch>
        </p:blipFill>
        <p:spPr>
          <a:xfrm>
            <a:off x="9152790" y="5143500"/>
            <a:ext cx="9140367" cy="51435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142015A5-0594-3EDE-4E68-2ADB70B7941D}"/>
              </a:ext>
            </a:extLst>
          </p:cNvPr>
          <p:cNvSpPr txBox="1"/>
          <p:nvPr/>
        </p:nvSpPr>
        <p:spPr>
          <a:xfrm>
            <a:off x="1790902" y="4625794"/>
            <a:ext cx="14701623" cy="30894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7200" kern="12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IPAex 明朝"/>
              </a:rPr>
              <a:t>机器人速递部分场景</a:t>
            </a:r>
            <a:endParaRPr lang="en-US" sz="7200" kern="1200" dirty="0">
              <a:solidFill>
                <a:srgbClr val="FFFFFF"/>
              </a:solidFill>
              <a:latin typeface="+mj-lt"/>
              <a:ea typeface="+mj-ea"/>
              <a:cs typeface="+mj-cs"/>
              <a:sym typeface="IPAex 明朝"/>
            </a:endParaRPr>
          </a:p>
        </p:txBody>
      </p:sp>
    </p:spTree>
    <p:extLst>
      <p:ext uri="{BB962C8B-B14F-4D97-AF65-F5344CB8AC3E}">
        <p14:creationId xmlns:p14="http://schemas.microsoft.com/office/powerpoint/2010/main" val="3854229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A86C3-C631-D21B-FB37-D72285C89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497F6490-689C-918F-CD49-D1FA1002F932}"/>
              </a:ext>
            </a:extLst>
          </p:cNvPr>
          <p:cNvSpPr txBox="1"/>
          <p:nvPr/>
        </p:nvSpPr>
        <p:spPr>
          <a:xfrm>
            <a:off x="-104478" y="141029"/>
            <a:ext cx="9271595" cy="817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35"/>
              </a:lnSpc>
              <a:spcBef>
                <a:spcPct val="0"/>
              </a:spcBef>
            </a:pPr>
            <a:r>
              <a:rPr lang="en-US" altLang="zh-CN" sz="4811" dirty="0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《</a:t>
            </a:r>
            <a:r>
              <a:rPr lang="zh-CN" altLang="en-US" sz="4811" dirty="0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芬奇房间</a:t>
            </a:r>
            <a:r>
              <a:rPr lang="en-US" altLang="zh-CN" sz="4811" dirty="0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》</a:t>
            </a:r>
            <a:r>
              <a:rPr lang="zh-CN" altLang="en-US" sz="4811" dirty="0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场景地编以及建模</a:t>
            </a:r>
            <a:endParaRPr lang="en-US" sz="4811" dirty="0">
              <a:solidFill>
                <a:srgbClr val="FFFFFF"/>
              </a:solidFill>
              <a:latin typeface="IPAex 明朝"/>
              <a:ea typeface="IPAex 明朝"/>
              <a:cs typeface="IPAex 明朝"/>
              <a:sym typeface="IPAex 明朝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0139701-2903-2058-0EBC-CD8CB11752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96" y="1464800"/>
            <a:ext cx="5795569" cy="454866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D12C595-D17B-D7FA-AACE-976AA04EFC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365" y="1022718"/>
            <a:ext cx="4808235" cy="331441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3CBD94B-AEB4-35FA-20EF-BB7C5ED84AF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365" y="4056520"/>
            <a:ext cx="3463224" cy="262042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66387188-21AE-A5EB-A6AC-4F37E2DA425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494" y="6476656"/>
            <a:ext cx="3641991" cy="293909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6C7A186-7B8D-25C1-5FBC-44DC0E74B7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0" y="1022718"/>
            <a:ext cx="6197143" cy="4862552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60314E84-BEB3-2168-DC4C-39DB3AD18F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48" y="5656873"/>
            <a:ext cx="5944740" cy="375887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05B351F-3CCB-D0A7-6D37-F038D45CC48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6622" y="4354207"/>
            <a:ext cx="3989494" cy="3411376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3D6ABBF3-3C1C-66E1-F3E1-E3AFDBA1052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9481" y="5805346"/>
            <a:ext cx="3691898" cy="36104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834A1927-3969-7038-9883-A3906BE5F53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2589" y="7146703"/>
            <a:ext cx="4197495" cy="240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82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E8D9F-998F-9472-0783-8D9B85EE5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04108189-B8F6-8709-6569-7A4E3FE90C4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2" r="1" b="10291"/>
          <a:stretch>
            <a:fillRect/>
          </a:stretch>
        </p:blipFill>
        <p:spPr>
          <a:xfrm>
            <a:off x="20" y="10"/>
            <a:ext cx="9145543" cy="514349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377B8BE-BFA8-0733-BE05-E634EFF7367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79" b="11536"/>
          <a:stretch>
            <a:fillRect/>
          </a:stretch>
        </p:blipFill>
        <p:spPr>
          <a:xfrm>
            <a:off x="9138178" y="114300"/>
            <a:ext cx="9140367" cy="514349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F9FCF094-2D18-03EB-5184-D6496038E4B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62" b="19922"/>
          <a:stretch>
            <a:fillRect/>
          </a:stretch>
        </p:blipFill>
        <p:spPr>
          <a:xfrm>
            <a:off x="16168" y="5143490"/>
            <a:ext cx="9140367" cy="51435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C212FBE-8E4D-F2C7-559B-C6FE67144BD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7" t="14158" r="177" b="14158"/>
          <a:stretch>
            <a:fillRect/>
          </a:stretch>
        </p:blipFill>
        <p:spPr>
          <a:xfrm>
            <a:off x="9119820" y="5143480"/>
            <a:ext cx="9140367" cy="51435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F8CD3238-21C8-37CD-FC71-9DCA94B5AD7D}"/>
              </a:ext>
            </a:extLst>
          </p:cNvPr>
          <p:cNvSpPr txBox="1"/>
          <p:nvPr/>
        </p:nvSpPr>
        <p:spPr>
          <a:xfrm>
            <a:off x="1741195" y="4838700"/>
            <a:ext cx="14701623" cy="30894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7200" kern="12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IPAex 明朝"/>
              </a:rPr>
              <a:t>《</a:t>
            </a:r>
            <a:r>
              <a:rPr lang="zh-CN" altLang="en-US" sz="7200" kern="12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IPAex 明朝"/>
              </a:rPr>
              <a:t>芬奇房间</a:t>
            </a:r>
            <a:r>
              <a:rPr lang="en-US" altLang="zh-CN" sz="7200" kern="12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IPAex 明朝"/>
              </a:rPr>
              <a:t>》</a:t>
            </a:r>
            <a:r>
              <a:rPr lang="zh-CN" altLang="en-US" sz="7200" kern="12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IPAex 明朝"/>
              </a:rPr>
              <a:t>场景地编以及建模</a:t>
            </a:r>
            <a:endParaRPr lang="en-US" sz="7200" kern="1200" dirty="0">
              <a:solidFill>
                <a:srgbClr val="FFFFFF"/>
              </a:solidFill>
              <a:latin typeface="+mj-lt"/>
              <a:ea typeface="+mj-ea"/>
              <a:cs typeface="+mj-cs"/>
              <a:sym typeface="IPAex 明朝"/>
            </a:endParaRPr>
          </a:p>
        </p:txBody>
      </p:sp>
    </p:spTree>
    <p:extLst>
      <p:ext uri="{BB962C8B-B14F-4D97-AF65-F5344CB8AC3E}">
        <p14:creationId xmlns:p14="http://schemas.microsoft.com/office/powerpoint/2010/main" val="2280327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6A6446-9AC1-EE73-E22B-860687141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A93898FF-D987-4B0E-BFB4-85F5EB356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8283428" cy="10286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12F383F-B981-4BC3-9E2B-7BE938CE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600"/>
            <a:ext cx="18283428" cy="10287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A485AD-076E-4077-A6E6-C3C9F0C39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088DBDF-80D5-4FC0-8A54-9D660B728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" y="0"/>
            <a:ext cx="18271758" cy="1028700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58D235B8-3D10-493F-88AC-84BB404C1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E0E3C57-D89E-D3AA-7889-AFBEC71F49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0" r="1" b="14052"/>
          <a:stretch>
            <a:fillRect/>
          </a:stretch>
        </p:blipFill>
        <p:spPr>
          <a:xfrm>
            <a:off x="20" y="10"/>
            <a:ext cx="9145543" cy="514349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E3B6A364-EBB5-C1C7-E692-BFCCD3294BA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956" b="15476"/>
          <a:stretch>
            <a:fillRect/>
          </a:stretch>
        </p:blipFill>
        <p:spPr>
          <a:xfrm>
            <a:off x="9147633" y="10"/>
            <a:ext cx="9140367" cy="514349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177AAA7-0770-F68C-942C-D6870796078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" t="9905" r="-466" b="15808"/>
          <a:stretch>
            <a:fillRect/>
          </a:stretch>
        </p:blipFill>
        <p:spPr>
          <a:xfrm>
            <a:off x="10992" y="5143500"/>
            <a:ext cx="9140367" cy="51435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6DCA0B0-FF27-9F58-74F6-9B5302AD8EA7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8"/>
          <a:stretch>
            <a:fillRect/>
          </a:stretch>
        </p:blipFill>
        <p:spPr>
          <a:xfrm>
            <a:off x="9121534" y="5143500"/>
            <a:ext cx="9140367" cy="51435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4E488083-08B5-DD18-2079-398520B18435}"/>
              </a:ext>
            </a:extLst>
          </p:cNvPr>
          <p:cNvSpPr txBox="1"/>
          <p:nvPr/>
        </p:nvSpPr>
        <p:spPr>
          <a:xfrm>
            <a:off x="1785635" y="4762500"/>
            <a:ext cx="14701623" cy="30894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7200" kern="12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IPAex 明朝"/>
              </a:rPr>
              <a:t>《</a:t>
            </a:r>
            <a:r>
              <a:rPr lang="zh-CN" altLang="en-US" sz="7200" kern="12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IPAex 明朝"/>
              </a:rPr>
              <a:t>芬奇房间</a:t>
            </a:r>
            <a:r>
              <a:rPr lang="en-US" altLang="zh-CN" sz="7200" kern="12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IPAex 明朝"/>
              </a:rPr>
              <a:t>》</a:t>
            </a:r>
            <a:r>
              <a:rPr lang="zh-CN" altLang="en-US" sz="7200" kern="12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IPAex 明朝"/>
              </a:rPr>
              <a:t>场景地编以及建模</a:t>
            </a:r>
            <a:endParaRPr lang="en-US" sz="7200" kern="1200" dirty="0">
              <a:solidFill>
                <a:srgbClr val="FFFFFF"/>
              </a:solidFill>
              <a:latin typeface="+mj-lt"/>
              <a:ea typeface="+mj-ea"/>
              <a:cs typeface="+mj-cs"/>
              <a:sym typeface="IPAex 明朝"/>
            </a:endParaRPr>
          </a:p>
        </p:txBody>
      </p:sp>
    </p:spTree>
    <p:extLst>
      <p:ext uri="{BB962C8B-B14F-4D97-AF65-F5344CB8AC3E}">
        <p14:creationId xmlns:p14="http://schemas.microsoft.com/office/powerpoint/2010/main" val="3124199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694759" cy="2658407"/>
          </a:xfrm>
          <a:custGeom>
            <a:avLst/>
            <a:gdLst/>
            <a:ahLst/>
            <a:cxnLst/>
            <a:rect l="l" t="t" r="r" b="b"/>
            <a:pathLst>
              <a:path w="4694759" h="2658407">
                <a:moveTo>
                  <a:pt x="0" y="0"/>
                </a:moveTo>
                <a:lnTo>
                  <a:pt x="4694759" y="0"/>
                </a:lnTo>
                <a:lnTo>
                  <a:pt x="4694759" y="2658407"/>
                </a:lnTo>
                <a:lnTo>
                  <a:pt x="0" y="26584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5910956" y="2658407"/>
            <a:ext cx="4283636" cy="3464391"/>
          </a:xfrm>
          <a:custGeom>
            <a:avLst/>
            <a:gdLst/>
            <a:ahLst/>
            <a:cxnLst/>
            <a:rect l="l" t="t" r="r" b="b"/>
            <a:pathLst>
              <a:path w="4283636" h="3464391">
                <a:moveTo>
                  <a:pt x="0" y="0"/>
                </a:moveTo>
                <a:lnTo>
                  <a:pt x="4283636" y="0"/>
                </a:lnTo>
                <a:lnTo>
                  <a:pt x="4283636" y="3464391"/>
                </a:lnTo>
                <a:lnTo>
                  <a:pt x="0" y="34643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4"/>
          <p:cNvSpPr/>
          <p:nvPr/>
        </p:nvSpPr>
        <p:spPr>
          <a:xfrm>
            <a:off x="4694759" y="29263"/>
            <a:ext cx="4984159" cy="2629144"/>
          </a:xfrm>
          <a:custGeom>
            <a:avLst/>
            <a:gdLst/>
            <a:ahLst/>
            <a:cxnLst/>
            <a:rect l="l" t="t" r="r" b="b"/>
            <a:pathLst>
              <a:path w="4984159" h="2629144">
                <a:moveTo>
                  <a:pt x="0" y="0"/>
                </a:moveTo>
                <a:lnTo>
                  <a:pt x="4984160" y="0"/>
                </a:lnTo>
                <a:lnTo>
                  <a:pt x="4984160" y="2629144"/>
                </a:lnTo>
                <a:lnTo>
                  <a:pt x="0" y="26291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5"/>
          <p:cNvSpPr/>
          <p:nvPr/>
        </p:nvSpPr>
        <p:spPr>
          <a:xfrm>
            <a:off x="9678919" y="0"/>
            <a:ext cx="4726058" cy="2658407"/>
          </a:xfrm>
          <a:custGeom>
            <a:avLst/>
            <a:gdLst/>
            <a:ahLst/>
            <a:cxnLst/>
            <a:rect l="l" t="t" r="r" b="b"/>
            <a:pathLst>
              <a:path w="4726058" h="2658407">
                <a:moveTo>
                  <a:pt x="0" y="0"/>
                </a:moveTo>
                <a:lnTo>
                  <a:pt x="4726057" y="0"/>
                </a:lnTo>
                <a:lnTo>
                  <a:pt x="4726057" y="2658407"/>
                </a:lnTo>
                <a:lnTo>
                  <a:pt x="0" y="26584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6"/>
          <p:cNvSpPr/>
          <p:nvPr/>
        </p:nvSpPr>
        <p:spPr>
          <a:xfrm>
            <a:off x="10194592" y="2658407"/>
            <a:ext cx="6051337" cy="3464391"/>
          </a:xfrm>
          <a:custGeom>
            <a:avLst/>
            <a:gdLst/>
            <a:ahLst/>
            <a:cxnLst/>
            <a:rect l="l" t="t" r="r" b="b"/>
            <a:pathLst>
              <a:path w="6051337" h="3464391">
                <a:moveTo>
                  <a:pt x="0" y="0"/>
                </a:moveTo>
                <a:lnTo>
                  <a:pt x="6051338" y="0"/>
                </a:lnTo>
                <a:lnTo>
                  <a:pt x="6051338" y="3464391"/>
                </a:lnTo>
                <a:lnTo>
                  <a:pt x="0" y="34643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7"/>
          <p:cNvSpPr/>
          <p:nvPr/>
        </p:nvSpPr>
        <p:spPr>
          <a:xfrm>
            <a:off x="1476536" y="2658407"/>
            <a:ext cx="4434420" cy="3464391"/>
          </a:xfrm>
          <a:custGeom>
            <a:avLst/>
            <a:gdLst/>
            <a:ahLst/>
            <a:cxnLst/>
            <a:rect l="l" t="t" r="r" b="b"/>
            <a:pathLst>
              <a:path w="4434420" h="3464391">
                <a:moveTo>
                  <a:pt x="0" y="0"/>
                </a:moveTo>
                <a:lnTo>
                  <a:pt x="4434420" y="0"/>
                </a:lnTo>
                <a:lnTo>
                  <a:pt x="4434420" y="3464391"/>
                </a:lnTo>
                <a:lnTo>
                  <a:pt x="0" y="34643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8"/>
          <p:cNvSpPr/>
          <p:nvPr/>
        </p:nvSpPr>
        <p:spPr>
          <a:xfrm>
            <a:off x="5269075" y="6135041"/>
            <a:ext cx="4552386" cy="3303898"/>
          </a:xfrm>
          <a:custGeom>
            <a:avLst/>
            <a:gdLst/>
            <a:ahLst/>
            <a:cxnLst/>
            <a:rect l="l" t="t" r="r" b="b"/>
            <a:pathLst>
              <a:path w="4552386" h="3303898">
                <a:moveTo>
                  <a:pt x="0" y="0"/>
                </a:moveTo>
                <a:lnTo>
                  <a:pt x="4552386" y="0"/>
                </a:lnTo>
                <a:lnTo>
                  <a:pt x="4552386" y="3303898"/>
                </a:lnTo>
                <a:lnTo>
                  <a:pt x="0" y="33038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1873" r="-12986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9"/>
          <p:cNvSpPr/>
          <p:nvPr/>
        </p:nvSpPr>
        <p:spPr>
          <a:xfrm>
            <a:off x="9821461" y="6147284"/>
            <a:ext cx="4678624" cy="3291655"/>
          </a:xfrm>
          <a:custGeom>
            <a:avLst/>
            <a:gdLst/>
            <a:ahLst/>
            <a:cxnLst/>
            <a:rect l="l" t="t" r="r" b="b"/>
            <a:pathLst>
              <a:path w="4678624" h="3291655">
                <a:moveTo>
                  <a:pt x="0" y="0"/>
                </a:moveTo>
                <a:lnTo>
                  <a:pt x="4678624" y="0"/>
                </a:lnTo>
                <a:lnTo>
                  <a:pt x="4678624" y="3291655"/>
                </a:lnTo>
                <a:lnTo>
                  <a:pt x="0" y="329165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9551" r="-15524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"/>
          <p:cNvSpPr/>
          <p:nvPr/>
        </p:nvSpPr>
        <p:spPr>
          <a:xfrm>
            <a:off x="14500085" y="6147284"/>
            <a:ext cx="4139411" cy="3334421"/>
          </a:xfrm>
          <a:custGeom>
            <a:avLst/>
            <a:gdLst/>
            <a:ahLst/>
            <a:cxnLst/>
            <a:rect l="l" t="t" r="r" b="b"/>
            <a:pathLst>
              <a:path w="4139411" h="3334421">
                <a:moveTo>
                  <a:pt x="0" y="0"/>
                </a:moveTo>
                <a:lnTo>
                  <a:pt x="4139411" y="0"/>
                </a:lnTo>
                <a:lnTo>
                  <a:pt x="4139411" y="3334421"/>
                </a:lnTo>
                <a:lnTo>
                  <a:pt x="0" y="333442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1169" r="-22035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298223" y="7698547"/>
            <a:ext cx="4098312" cy="1121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17"/>
              </a:lnSpc>
            </a:pPr>
            <a:r>
              <a:rPr lang="en-US" sz="3227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部分产品以及道具建模</a:t>
            </a:r>
          </a:p>
          <a:p>
            <a:pPr marL="0" lvl="0" indent="0" algn="ctr">
              <a:lnSpc>
                <a:spcPts val="4517"/>
              </a:lnSpc>
              <a:spcBef>
                <a:spcPct val="0"/>
              </a:spcBef>
            </a:pPr>
            <a:endParaRPr lang="en-US" sz="3227">
              <a:solidFill>
                <a:srgbClr val="FFFFFF"/>
              </a:solidFill>
              <a:latin typeface="IPAex 明朝"/>
              <a:ea typeface="IPAex 明朝"/>
              <a:cs typeface="IPAex 明朝"/>
              <a:sym typeface="IPAex 明朝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BA68C-1E73-C5A4-8CD3-4ED668A76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D1E0B88-1C64-B523-1499-D92B0D3B561C}"/>
              </a:ext>
            </a:extLst>
          </p:cNvPr>
          <p:cNvSpPr/>
          <p:nvPr/>
        </p:nvSpPr>
        <p:spPr>
          <a:xfrm>
            <a:off x="-72579" y="0"/>
            <a:ext cx="9551763" cy="5274881"/>
          </a:xfrm>
          <a:custGeom>
            <a:avLst/>
            <a:gdLst/>
            <a:ahLst/>
            <a:cxnLst/>
            <a:rect l="l" t="t" r="r" b="b"/>
            <a:pathLst>
              <a:path w="6153564" h="3461380">
                <a:moveTo>
                  <a:pt x="0" y="0"/>
                </a:moveTo>
                <a:lnTo>
                  <a:pt x="6153564" y="0"/>
                </a:lnTo>
                <a:lnTo>
                  <a:pt x="6153564" y="3461379"/>
                </a:lnTo>
                <a:lnTo>
                  <a:pt x="0" y="34613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68C19D5-201D-8EC0-1A17-E53E1A748334}"/>
              </a:ext>
            </a:extLst>
          </p:cNvPr>
          <p:cNvSpPr/>
          <p:nvPr/>
        </p:nvSpPr>
        <p:spPr>
          <a:xfrm>
            <a:off x="9401626" y="5382612"/>
            <a:ext cx="8867982" cy="5170300"/>
          </a:xfrm>
          <a:custGeom>
            <a:avLst/>
            <a:gdLst/>
            <a:ahLst/>
            <a:cxnLst/>
            <a:rect l="l" t="t" r="r" b="b"/>
            <a:pathLst>
              <a:path w="5988968" h="3368795">
                <a:moveTo>
                  <a:pt x="0" y="0"/>
                </a:moveTo>
                <a:lnTo>
                  <a:pt x="5988969" y="0"/>
                </a:lnTo>
                <a:lnTo>
                  <a:pt x="5988969" y="3368795"/>
                </a:lnTo>
                <a:lnTo>
                  <a:pt x="0" y="33687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5182EFC-7E7D-F570-CC08-F21FAC743C31}"/>
              </a:ext>
            </a:extLst>
          </p:cNvPr>
          <p:cNvSpPr/>
          <p:nvPr/>
        </p:nvSpPr>
        <p:spPr>
          <a:xfrm>
            <a:off x="9474699" y="0"/>
            <a:ext cx="8758620" cy="5389181"/>
          </a:xfrm>
          <a:custGeom>
            <a:avLst/>
            <a:gdLst/>
            <a:ahLst/>
            <a:cxnLst/>
            <a:rect l="l" t="t" r="r" b="b"/>
            <a:pathLst>
              <a:path w="6153564" h="3292157">
                <a:moveTo>
                  <a:pt x="0" y="0"/>
                </a:moveTo>
                <a:lnTo>
                  <a:pt x="6153563" y="0"/>
                </a:lnTo>
                <a:lnTo>
                  <a:pt x="6153563" y="3292157"/>
                </a:lnTo>
                <a:lnTo>
                  <a:pt x="0" y="32921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D80A5BF0-306E-803C-83B3-58DA43118989}"/>
              </a:ext>
            </a:extLst>
          </p:cNvPr>
          <p:cNvSpPr/>
          <p:nvPr/>
        </p:nvSpPr>
        <p:spPr>
          <a:xfrm>
            <a:off x="18392" y="5004677"/>
            <a:ext cx="9401625" cy="5369471"/>
          </a:xfrm>
          <a:custGeom>
            <a:avLst/>
            <a:gdLst/>
            <a:ahLst/>
            <a:cxnLst/>
            <a:rect l="l" t="t" r="r" b="b"/>
            <a:pathLst>
              <a:path w="6153564" h="3461380">
                <a:moveTo>
                  <a:pt x="0" y="0"/>
                </a:moveTo>
                <a:lnTo>
                  <a:pt x="6153563" y="0"/>
                </a:lnTo>
                <a:lnTo>
                  <a:pt x="6153563" y="3461379"/>
                </a:lnTo>
                <a:lnTo>
                  <a:pt x="0" y="34613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C67D1D5-F66C-54F8-0BB8-14E549D7C87B}"/>
              </a:ext>
            </a:extLst>
          </p:cNvPr>
          <p:cNvSpPr txBox="1"/>
          <p:nvPr/>
        </p:nvSpPr>
        <p:spPr>
          <a:xfrm>
            <a:off x="4703302" y="4638549"/>
            <a:ext cx="9271595" cy="1662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35"/>
              </a:lnSpc>
            </a:pPr>
            <a:r>
              <a:rPr lang="zh-CN" altLang="en-US" sz="4811" dirty="0">
                <a:solidFill>
                  <a:schemeClr val="bg2"/>
                </a:solidFill>
                <a:latin typeface="IPAex 明朝"/>
                <a:ea typeface="IPAex 明朝"/>
                <a:cs typeface="IPAex 明朝"/>
                <a:sym typeface="IPAex 明朝"/>
              </a:rPr>
              <a:t>数字人文</a:t>
            </a:r>
            <a:r>
              <a:rPr lang="en-US" sz="4811" dirty="0" err="1">
                <a:solidFill>
                  <a:schemeClr val="bg2"/>
                </a:solidFill>
                <a:latin typeface="IPAex 明朝"/>
                <a:ea typeface="IPAex 明朝"/>
                <a:cs typeface="IPAex 明朝"/>
                <a:sym typeface="IPAex 明朝"/>
              </a:rPr>
              <a:t>展览馆项目渲染图</a:t>
            </a:r>
            <a:endParaRPr lang="en-US" sz="4811" dirty="0">
              <a:solidFill>
                <a:schemeClr val="bg2"/>
              </a:solidFill>
              <a:latin typeface="IPAex 明朝"/>
              <a:ea typeface="IPAex 明朝"/>
              <a:cs typeface="IPAex 明朝"/>
              <a:sym typeface="IPAex 明朝"/>
            </a:endParaRPr>
          </a:p>
          <a:p>
            <a:pPr marL="0" lvl="0" indent="0" algn="ctr">
              <a:lnSpc>
                <a:spcPts val="6735"/>
              </a:lnSpc>
              <a:spcBef>
                <a:spcPct val="0"/>
              </a:spcBef>
            </a:pPr>
            <a:endParaRPr lang="en-US" sz="4811" dirty="0">
              <a:solidFill>
                <a:srgbClr val="FFFFFF"/>
              </a:solidFill>
              <a:latin typeface="IPAex 明朝"/>
              <a:ea typeface="IPAex 明朝"/>
              <a:cs typeface="IPAex 明朝"/>
              <a:sym typeface="IPAex 明朝"/>
            </a:endParaRPr>
          </a:p>
        </p:txBody>
      </p:sp>
    </p:spTree>
    <p:extLst>
      <p:ext uri="{BB962C8B-B14F-4D97-AF65-F5344CB8AC3E}">
        <p14:creationId xmlns:p14="http://schemas.microsoft.com/office/powerpoint/2010/main" val="3634177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731605" y="5454027"/>
            <a:ext cx="6122336" cy="4155536"/>
          </a:xfrm>
          <a:custGeom>
            <a:avLst/>
            <a:gdLst/>
            <a:ahLst/>
            <a:cxnLst/>
            <a:rect l="l" t="t" r="r" b="b"/>
            <a:pathLst>
              <a:path w="6122336" h="4155536">
                <a:moveTo>
                  <a:pt x="0" y="0"/>
                </a:moveTo>
                <a:lnTo>
                  <a:pt x="6122336" y="0"/>
                </a:lnTo>
                <a:lnTo>
                  <a:pt x="6122336" y="4155536"/>
                </a:lnTo>
                <a:lnTo>
                  <a:pt x="0" y="415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11853941" y="5454027"/>
            <a:ext cx="5540714" cy="4155536"/>
          </a:xfrm>
          <a:custGeom>
            <a:avLst/>
            <a:gdLst/>
            <a:ahLst/>
            <a:cxnLst/>
            <a:rect l="l" t="t" r="r" b="b"/>
            <a:pathLst>
              <a:path w="5540714" h="4155536">
                <a:moveTo>
                  <a:pt x="0" y="0"/>
                </a:moveTo>
                <a:lnTo>
                  <a:pt x="5540714" y="0"/>
                </a:lnTo>
                <a:lnTo>
                  <a:pt x="5540714" y="4155536"/>
                </a:lnTo>
                <a:lnTo>
                  <a:pt x="0" y="4155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4"/>
          <p:cNvSpPr/>
          <p:nvPr/>
        </p:nvSpPr>
        <p:spPr>
          <a:xfrm>
            <a:off x="5210290" y="1701836"/>
            <a:ext cx="3032957" cy="3752191"/>
          </a:xfrm>
          <a:custGeom>
            <a:avLst/>
            <a:gdLst/>
            <a:ahLst/>
            <a:cxnLst/>
            <a:rect l="l" t="t" r="r" b="b"/>
            <a:pathLst>
              <a:path w="3032957" h="3752191">
                <a:moveTo>
                  <a:pt x="0" y="0"/>
                </a:moveTo>
                <a:lnTo>
                  <a:pt x="3032956" y="0"/>
                </a:lnTo>
                <a:lnTo>
                  <a:pt x="3032956" y="3752191"/>
                </a:lnTo>
                <a:lnTo>
                  <a:pt x="0" y="37521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3465" r="-67946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5"/>
          <p:cNvSpPr/>
          <p:nvPr/>
        </p:nvSpPr>
        <p:spPr>
          <a:xfrm>
            <a:off x="1186492" y="1701836"/>
            <a:ext cx="4023797" cy="3752191"/>
          </a:xfrm>
          <a:custGeom>
            <a:avLst/>
            <a:gdLst/>
            <a:ahLst/>
            <a:cxnLst/>
            <a:rect l="l" t="t" r="r" b="b"/>
            <a:pathLst>
              <a:path w="4023797" h="3752191">
                <a:moveTo>
                  <a:pt x="0" y="0"/>
                </a:moveTo>
                <a:lnTo>
                  <a:pt x="4023798" y="0"/>
                </a:lnTo>
                <a:lnTo>
                  <a:pt x="4023798" y="3752191"/>
                </a:lnTo>
                <a:lnTo>
                  <a:pt x="0" y="37521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6"/>
          <p:cNvSpPr/>
          <p:nvPr/>
        </p:nvSpPr>
        <p:spPr>
          <a:xfrm>
            <a:off x="8243246" y="1701836"/>
            <a:ext cx="4969789" cy="3752191"/>
          </a:xfrm>
          <a:custGeom>
            <a:avLst/>
            <a:gdLst/>
            <a:ahLst/>
            <a:cxnLst/>
            <a:rect l="l" t="t" r="r" b="b"/>
            <a:pathLst>
              <a:path w="4969789" h="3752191">
                <a:moveTo>
                  <a:pt x="0" y="0"/>
                </a:moveTo>
                <a:lnTo>
                  <a:pt x="4969790" y="0"/>
                </a:lnTo>
                <a:lnTo>
                  <a:pt x="4969790" y="3752191"/>
                </a:lnTo>
                <a:lnTo>
                  <a:pt x="0" y="37521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7" name="TextBox 7"/>
          <p:cNvSpPr txBox="1"/>
          <p:nvPr/>
        </p:nvSpPr>
        <p:spPr>
          <a:xfrm>
            <a:off x="-6834536" y="679498"/>
            <a:ext cx="21578683" cy="622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22"/>
              </a:lnSpc>
              <a:spcBef>
                <a:spcPct val="0"/>
              </a:spcBef>
            </a:pPr>
            <a:r>
              <a:rPr lang="en-US" sz="3658" dirty="0" err="1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角色建模，包含骨骼以及形态键</a:t>
            </a:r>
            <a:endParaRPr lang="en-US" sz="3658" dirty="0">
              <a:solidFill>
                <a:srgbClr val="FFFFFF"/>
              </a:solidFill>
              <a:latin typeface="IPAex 明朝"/>
              <a:ea typeface="IPAex 明朝"/>
              <a:cs typeface="IPAex 明朝"/>
              <a:sym typeface="IPAex 明朝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684262" y="6893866"/>
            <a:ext cx="5064286" cy="2994259"/>
          </a:xfrm>
          <a:custGeom>
            <a:avLst/>
            <a:gdLst/>
            <a:ahLst/>
            <a:cxnLst/>
            <a:rect l="l" t="t" r="r" b="b"/>
            <a:pathLst>
              <a:path w="5064286" h="2994259">
                <a:moveTo>
                  <a:pt x="0" y="0"/>
                </a:moveTo>
                <a:lnTo>
                  <a:pt x="5064286" y="0"/>
                </a:lnTo>
                <a:lnTo>
                  <a:pt x="5064286" y="2994259"/>
                </a:lnTo>
                <a:lnTo>
                  <a:pt x="0" y="29942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10078984" y="2351718"/>
            <a:ext cx="7533601" cy="4542148"/>
          </a:xfrm>
          <a:custGeom>
            <a:avLst/>
            <a:gdLst/>
            <a:ahLst/>
            <a:cxnLst/>
            <a:rect l="l" t="t" r="r" b="b"/>
            <a:pathLst>
              <a:path w="7533601" h="4542148">
                <a:moveTo>
                  <a:pt x="0" y="0"/>
                </a:moveTo>
                <a:lnTo>
                  <a:pt x="7533601" y="0"/>
                </a:lnTo>
                <a:lnTo>
                  <a:pt x="7533601" y="4542148"/>
                </a:lnTo>
                <a:lnTo>
                  <a:pt x="0" y="4542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118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4"/>
          <p:cNvSpPr/>
          <p:nvPr/>
        </p:nvSpPr>
        <p:spPr>
          <a:xfrm>
            <a:off x="355809" y="3939809"/>
            <a:ext cx="5171387" cy="3064047"/>
          </a:xfrm>
          <a:custGeom>
            <a:avLst/>
            <a:gdLst/>
            <a:ahLst/>
            <a:cxnLst/>
            <a:rect l="l" t="t" r="r" b="b"/>
            <a:pathLst>
              <a:path w="5171387" h="3064047">
                <a:moveTo>
                  <a:pt x="0" y="0"/>
                </a:moveTo>
                <a:lnTo>
                  <a:pt x="5171387" y="0"/>
                </a:lnTo>
                <a:lnTo>
                  <a:pt x="5171387" y="3064047"/>
                </a:lnTo>
                <a:lnTo>
                  <a:pt x="0" y="30640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5"/>
          <p:cNvSpPr/>
          <p:nvPr/>
        </p:nvSpPr>
        <p:spPr>
          <a:xfrm>
            <a:off x="5236090" y="1886109"/>
            <a:ext cx="4842894" cy="2839146"/>
          </a:xfrm>
          <a:custGeom>
            <a:avLst/>
            <a:gdLst/>
            <a:ahLst/>
            <a:cxnLst/>
            <a:rect l="l" t="t" r="r" b="b"/>
            <a:pathLst>
              <a:path w="4842894" h="2839146">
                <a:moveTo>
                  <a:pt x="0" y="0"/>
                </a:moveTo>
                <a:lnTo>
                  <a:pt x="4842894" y="0"/>
                </a:lnTo>
                <a:lnTo>
                  <a:pt x="4842894" y="2839147"/>
                </a:lnTo>
                <a:lnTo>
                  <a:pt x="0" y="28391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6"/>
          <p:cNvSpPr/>
          <p:nvPr/>
        </p:nvSpPr>
        <p:spPr>
          <a:xfrm>
            <a:off x="4301106" y="6893866"/>
            <a:ext cx="4383156" cy="2438130"/>
          </a:xfrm>
          <a:custGeom>
            <a:avLst/>
            <a:gdLst/>
            <a:ahLst/>
            <a:cxnLst/>
            <a:rect l="l" t="t" r="r" b="b"/>
            <a:pathLst>
              <a:path w="4383156" h="2438130">
                <a:moveTo>
                  <a:pt x="0" y="0"/>
                </a:moveTo>
                <a:lnTo>
                  <a:pt x="4383156" y="0"/>
                </a:lnTo>
                <a:lnTo>
                  <a:pt x="4383156" y="2438130"/>
                </a:lnTo>
                <a:lnTo>
                  <a:pt x="0" y="2438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7"/>
          <p:cNvSpPr/>
          <p:nvPr/>
        </p:nvSpPr>
        <p:spPr>
          <a:xfrm>
            <a:off x="106654" y="7003856"/>
            <a:ext cx="4194452" cy="3014762"/>
          </a:xfrm>
          <a:custGeom>
            <a:avLst/>
            <a:gdLst/>
            <a:ahLst/>
            <a:cxnLst/>
            <a:rect l="l" t="t" r="r" b="b"/>
            <a:pathLst>
              <a:path w="4194452" h="3014762">
                <a:moveTo>
                  <a:pt x="0" y="0"/>
                </a:moveTo>
                <a:lnTo>
                  <a:pt x="4194452" y="0"/>
                </a:lnTo>
                <a:lnTo>
                  <a:pt x="4194452" y="3014762"/>
                </a:lnTo>
                <a:lnTo>
                  <a:pt x="0" y="30147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8"/>
          <p:cNvSpPr/>
          <p:nvPr/>
        </p:nvSpPr>
        <p:spPr>
          <a:xfrm>
            <a:off x="13748548" y="6604886"/>
            <a:ext cx="3610299" cy="2071409"/>
          </a:xfrm>
          <a:custGeom>
            <a:avLst/>
            <a:gdLst/>
            <a:ahLst/>
            <a:cxnLst/>
            <a:rect l="l" t="t" r="r" b="b"/>
            <a:pathLst>
              <a:path w="3610299" h="2071409">
                <a:moveTo>
                  <a:pt x="0" y="0"/>
                </a:moveTo>
                <a:lnTo>
                  <a:pt x="3610299" y="0"/>
                </a:lnTo>
                <a:lnTo>
                  <a:pt x="3610299" y="2071409"/>
                </a:lnTo>
                <a:lnTo>
                  <a:pt x="0" y="20714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9" name="TextBox 9"/>
          <p:cNvSpPr txBox="1"/>
          <p:nvPr/>
        </p:nvSpPr>
        <p:spPr>
          <a:xfrm>
            <a:off x="811883" y="1225318"/>
            <a:ext cx="8995767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6"/>
              </a:lnSpc>
              <a:spcBef>
                <a:spcPct val="0"/>
              </a:spcBef>
            </a:pPr>
            <a:r>
              <a:rPr lang="en-US" sz="2530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25年全球48小时极限游戏开发大赛基于游戏引擎内场景（七关）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01695" y="5143500"/>
            <a:ext cx="3602789" cy="861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3"/>
              </a:lnSpc>
              <a:spcBef>
                <a:spcPct val="0"/>
              </a:spcBef>
            </a:pPr>
            <a:r>
              <a:rPr lang="en-US" sz="5719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Bubble head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9F482-D30C-14C0-76D4-5352EF7C1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047C7EB-0880-251D-FA55-9105EFE8E0A5}"/>
              </a:ext>
            </a:extLst>
          </p:cNvPr>
          <p:cNvSpPr txBox="1"/>
          <p:nvPr/>
        </p:nvSpPr>
        <p:spPr>
          <a:xfrm>
            <a:off x="1028700" y="7945718"/>
            <a:ext cx="2636098" cy="32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8"/>
              </a:lnSpc>
            </a:pPr>
            <a:r>
              <a:rPr lang="en-US" sz="2408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2971762643@qq.com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5458769-423D-D149-BD05-C3CADBE43EC2}"/>
              </a:ext>
            </a:extLst>
          </p:cNvPr>
          <p:cNvSpPr txBox="1"/>
          <p:nvPr/>
        </p:nvSpPr>
        <p:spPr>
          <a:xfrm>
            <a:off x="926848" y="8827076"/>
            <a:ext cx="6012386" cy="1867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5"/>
              </a:lnSpc>
            </a:pPr>
            <a:r>
              <a:rPr lang="en-US" sz="7195" b="1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PORTFOLIO</a:t>
            </a:r>
          </a:p>
          <a:p>
            <a:pPr algn="l">
              <a:lnSpc>
                <a:spcPts val="7195"/>
              </a:lnSpc>
            </a:pPr>
            <a:endParaRPr lang="en-US" sz="7195" b="1">
              <a:solidFill>
                <a:srgbClr val="FFFFFF"/>
              </a:solidFill>
              <a:latin typeface="TT Ramillas Bold"/>
              <a:ea typeface="TT Ramillas Bold"/>
              <a:cs typeface="TT Ramillas Bold"/>
              <a:sym typeface="TT Ramillas Bold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37DC31E-EE9C-CCAB-C801-44CA0E4DB711}"/>
              </a:ext>
            </a:extLst>
          </p:cNvPr>
          <p:cNvSpPr txBox="1"/>
          <p:nvPr/>
        </p:nvSpPr>
        <p:spPr>
          <a:xfrm>
            <a:off x="1028700" y="8338244"/>
            <a:ext cx="4092532" cy="474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8"/>
              </a:lnSpc>
            </a:pPr>
            <a:r>
              <a:rPr lang="en-US" sz="3738" dirty="0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李东盛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9C20D7C-81FC-7671-D356-6F45F23B66DB}"/>
              </a:ext>
            </a:extLst>
          </p:cNvPr>
          <p:cNvSpPr txBox="1"/>
          <p:nvPr/>
        </p:nvSpPr>
        <p:spPr>
          <a:xfrm>
            <a:off x="1028700" y="7581768"/>
            <a:ext cx="2636098" cy="32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8"/>
              </a:lnSpc>
            </a:pPr>
            <a:r>
              <a:rPr lang="en-US" sz="2408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18098302488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649AEEB-0EA9-F56C-4899-2455CDA65216}"/>
              </a:ext>
            </a:extLst>
          </p:cNvPr>
          <p:cNvSpPr txBox="1"/>
          <p:nvPr/>
        </p:nvSpPr>
        <p:spPr>
          <a:xfrm>
            <a:off x="5087073" y="129710"/>
            <a:ext cx="10198124" cy="561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210"/>
              </a:lnSpc>
              <a:spcBef>
                <a:spcPct val="0"/>
              </a:spcBef>
            </a:pPr>
            <a:r>
              <a:rPr lang="zh-CN" altLang="en-US" sz="96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技术美术与特效</a:t>
            </a:r>
            <a:endParaRPr lang="en-US" sz="9600" dirty="0">
              <a:solidFill>
                <a:srgbClr val="FFFFFF"/>
              </a:solidFill>
              <a:latin typeface="梅明朝"/>
              <a:ea typeface="梅明朝"/>
              <a:cs typeface="梅明朝"/>
              <a:sym typeface="梅明朝"/>
            </a:endParaRPr>
          </a:p>
        </p:txBody>
      </p:sp>
    </p:spTree>
    <p:extLst>
      <p:ext uri="{BB962C8B-B14F-4D97-AF65-F5344CB8AC3E}">
        <p14:creationId xmlns:p14="http://schemas.microsoft.com/office/powerpoint/2010/main" val="496164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00" y="1879039"/>
            <a:ext cx="1783225" cy="1270626"/>
          </a:xfrm>
          <a:custGeom>
            <a:avLst/>
            <a:gdLst/>
            <a:ahLst/>
            <a:cxnLst/>
            <a:rect l="l" t="t" r="r" b="b"/>
            <a:pathLst>
              <a:path w="3491097" h="2351464">
                <a:moveTo>
                  <a:pt x="0" y="0"/>
                </a:moveTo>
                <a:lnTo>
                  <a:pt x="3491097" y="0"/>
                </a:lnTo>
                <a:lnTo>
                  <a:pt x="3491097" y="2351464"/>
                </a:lnTo>
                <a:lnTo>
                  <a:pt x="0" y="23514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113" b="-17958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1424889" y="3201537"/>
            <a:ext cx="1783225" cy="1270627"/>
          </a:xfrm>
          <a:custGeom>
            <a:avLst/>
            <a:gdLst/>
            <a:ahLst/>
            <a:cxnLst/>
            <a:rect l="l" t="t" r="r" b="b"/>
            <a:pathLst>
              <a:path w="2991956" h="2146129">
                <a:moveTo>
                  <a:pt x="0" y="0"/>
                </a:moveTo>
                <a:lnTo>
                  <a:pt x="2991956" y="0"/>
                </a:lnTo>
                <a:lnTo>
                  <a:pt x="2991956" y="2146129"/>
                </a:lnTo>
                <a:lnTo>
                  <a:pt x="0" y="21461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4"/>
          <p:cNvSpPr/>
          <p:nvPr/>
        </p:nvSpPr>
        <p:spPr>
          <a:xfrm>
            <a:off x="1240791" y="4482473"/>
            <a:ext cx="1967323" cy="1332364"/>
          </a:xfrm>
          <a:custGeom>
            <a:avLst/>
            <a:gdLst/>
            <a:ahLst/>
            <a:cxnLst/>
            <a:rect l="l" t="t" r="r" b="b"/>
            <a:pathLst>
              <a:path w="3370867" h="2485492">
                <a:moveTo>
                  <a:pt x="0" y="0"/>
                </a:moveTo>
                <a:lnTo>
                  <a:pt x="3370866" y="0"/>
                </a:lnTo>
                <a:lnTo>
                  <a:pt x="3370866" y="2485492"/>
                </a:lnTo>
                <a:lnTo>
                  <a:pt x="0" y="24854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514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Box 8"/>
          <p:cNvSpPr txBox="1"/>
          <p:nvPr/>
        </p:nvSpPr>
        <p:spPr>
          <a:xfrm>
            <a:off x="3048000" y="2319089"/>
            <a:ext cx="5586214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6"/>
              </a:lnSpc>
              <a:spcBef>
                <a:spcPct val="0"/>
              </a:spcBef>
            </a:pPr>
            <a:r>
              <a:rPr lang="en-US" sz="2530" dirty="0" err="1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基于shader</a:t>
            </a:r>
            <a:r>
              <a:rPr lang="en-US" sz="2530" dirty="0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 </a:t>
            </a:r>
            <a:r>
              <a:rPr lang="en-US" sz="2530" dirty="0" err="1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graph实现unity</a:t>
            </a:r>
            <a:r>
              <a:rPr lang="zh-CN" altLang="en-US" sz="2530" dirty="0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镭射效果</a:t>
            </a:r>
            <a:endParaRPr lang="en-US" sz="2530" dirty="0">
              <a:solidFill>
                <a:srgbClr val="FFFFFF"/>
              </a:solidFill>
              <a:latin typeface="Crimson Pro"/>
              <a:ea typeface="Crimson Pro"/>
              <a:cs typeface="Crimson Pro"/>
              <a:sym typeface="Crimson Pr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590800" y="3644489"/>
            <a:ext cx="5525149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36"/>
              </a:lnSpc>
              <a:spcBef>
                <a:spcPct val="0"/>
              </a:spcBef>
            </a:pPr>
            <a:r>
              <a:rPr lang="en-US" sz="2530" dirty="0" err="1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基于urp</a:t>
            </a:r>
            <a:r>
              <a:rPr lang="en-US" sz="2530" dirty="0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 </a:t>
            </a:r>
            <a:r>
              <a:rPr lang="en-US" sz="2530" dirty="0" err="1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lit实现的</a:t>
            </a:r>
            <a:r>
              <a:rPr lang="zh-CN" altLang="en-US" sz="2530" dirty="0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泡泡材质效果</a:t>
            </a:r>
            <a:endParaRPr lang="en-US" sz="2530" dirty="0">
              <a:solidFill>
                <a:srgbClr val="FFFFFF"/>
              </a:solidFill>
              <a:latin typeface="Crimson Pro"/>
              <a:ea typeface="Crimson Pro"/>
              <a:cs typeface="Crimson Pro"/>
              <a:sym typeface="Crimson Pr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083960" y="4969650"/>
            <a:ext cx="4572090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36"/>
              </a:lnSpc>
              <a:spcBef>
                <a:spcPct val="0"/>
              </a:spcBef>
            </a:pPr>
            <a:r>
              <a:rPr lang="en-US" sz="2530" dirty="0" err="1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基于shader</a:t>
            </a:r>
            <a:r>
              <a:rPr lang="en-US" sz="2530" dirty="0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 </a:t>
            </a:r>
            <a:r>
              <a:rPr lang="en-US" sz="2530" dirty="0" err="1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graph实现</a:t>
            </a:r>
            <a:r>
              <a:rPr lang="zh-CN" altLang="en-US" sz="2530" dirty="0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背景效果</a:t>
            </a:r>
            <a:endParaRPr lang="en-US" altLang="zh-CN" sz="2530" dirty="0">
              <a:solidFill>
                <a:srgbClr val="FFFFFF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algn="ctr">
              <a:lnSpc>
                <a:spcPts val="3036"/>
              </a:lnSpc>
              <a:spcBef>
                <a:spcPct val="0"/>
              </a:spcBef>
            </a:pPr>
            <a:endParaRPr lang="en-US" sz="2530" dirty="0">
              <a:solidFill>
                <a:srgbClr val="FFFFFF"/>
              </a:solidFill>
              <a:latin typeface="Crimson Pro"/>
              <a:ea typeface="Crimson Pro"/>
              <a:cs typeface="Crimson Pro"/>
              <a:sym typeface="Crimson Pro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077B6E2-77DE-F967-F35D-B7545D7391A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807" y="5845266"/>
            <a:ext cx="4434836" cy="223451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5EA6667F-3F0A-160E-2554-2D44313D9025}"/>
              </a:ext>
            </a:extLst>
          </p:cNvPr>
          <p:cNvSpPr txBox="1"/>
          <p:nvPr/>
        </p:nvSpPr>
        <p:spPr>
          <a:xfrm>
            <a:off x="-1363886" y="8185952"/>
            <a:ext cx="9144000" cy="120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36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基于虚幻五后处理体积的描边</a:t>
            </a:r>
            <a:endParaRPr lang="en-US" altLang="zh-CN" sz="2400" dirty="0">
              <a:solidFill>
                <a:srgbClr val="FFFFFF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algn="ctr">
              <a:lnSpc>
                <a:spcPts val="3036"/>
              </a:lnSpc>
              <a:spcBef>
                <a:spcPct val="0"/>
              </a:spcBef>
            </a:pPr>
            <a:endParaRPr lang="en-US" altLang="zh-CN" sz="1800" dirty="0">
              <a:solidFill>
                <a:srgbClr val="FFFFFF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algn="ctr">
              <a:lnSpc>
                <a:spcPts val="3036"/>
              </a:lnSpc>
              <a:spcBef>
                <a:spcPct val="0"/>
              </a:spcBef>
            </a:pPr>
            <a:endParaRPr lang="en-US" altLang="zh-CN" sz="1800" dirty="0">
              <a:solidFill>
                <a:srgbClr val="FFFFFF"/>
              </a:solidFill>
              <a:latin typeface="Crimson Pro"/>
              <a:ea typeface="Crimson Pro"/>
              <a:cs typeface="Crimson Pro"/>
              <a:sym typeface="Crimson Pro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35A4F1D-BB9E-FF3C-5FF8-D69129BD57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3923" y="5518479"/>
            <a:ext cx="4039223" cy="2742269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573CE48-0123-38E4-5EC8-0B2541A6F7C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4067" y="5535891"/>
            <a:ext cx="3435373" cy="2650061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5D2E44C0-66B7-DB89-A645-62D75D020E6E}"/>
              </a:ext>
            </a:extLst>
          </p:cNvPr>
          <p:cNvSpPr txBox="1"/>
          <p:nvPr/>
        </p:nvSpPr>
        <p:spPr>
          <a:xfrm>
            <a:off x="5826053" y="8582536"/>
            <a:ext cx="9827230" cy="807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36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基于</a:t>
            </a:r>
            <a:r>
              <a:rPr lang="en-US" altLang="zh-CN" sz="2400" dirty="0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unity</a:t>
            </a:r>
            <a:r>
              <a:rPr lang="zh-CN" altLang="en-US" sz="2400" dirty="0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，虚幻五复刻</a:t>
            </a:r>
            <a:r>
              <a:rPr lang="en-US" altLang="zh-CN" sz="2400" dirty="0" err="1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mtlcapture</a:t>
            </a:r>
            <a:r>
              <a:rPr lang="zh-CN" altLang="en-US" sz="2400" dirty="0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效果</a:t>
            </a:r>
            <a:endParaRPr lang="en-US" altLang="zh-CN" sz="2400" dirty="0">
              <a:solidFill>
                <a:srgbClr val="FFFFFF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algn="ctr">
              <a:lnSpc>
                <a:spcPts val="3036"/>
              </a:lnSpc>
              <a:spcBef>
                <a:spcPct val="0"/>
              </a:spcBef>
            </a:pPr>
            <a:endParaRPr lang="en-US" altLang="zh-CN" sz="1400" dirty="0">
              <a:solidFill>
                <a:srgbClr val="FFFFFF"/>
              </a:solidFill>
              <a:latin typeface="Crimson Pro"/>
              <a:ea typeface="Crimson Pro"/>
              <a:cs typeface="Crimson Pro"/>
              <a:sym typeface="Crimson Pro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8318A191-8EB8-E55D-AC54-66E1DAEFD06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668" y="1570881"/>
            <a:ext cx="4304732" cy="3398769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86353E0D-8F09-B37A-B606-E5E49CAC919A}"/>
              </a:ext>
            </a:extLst>
          </p:cNvPr>
          <p:cNvSpPr txBox="1"/>
          <p:nvPr/>
        </p:nvSpPr>
        <p:spPr>
          <a:xfrm>
            <a:off x="8115949" y="5032965"/>
            <a:ext cx="9827230" cy="807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36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节点模糊效果</a:t>
            </a:r>
            <a:endParaRPr lang="en-US" altLang="zh-CN" sz="2400" dirty="0">
              <a:solidFill>
                <a:srgbClr val="FFFFFF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algn="ctr">
              <a:lnSpc>
                <a:spcPts val="3036"/>
              </a:lnSpc>
              <a:spcBef>
                <a:spcPct val="0"/>
              </a:spcBef>
            </a:pPr>
            <a:endParaRPr lang="en-US" altLang="zh-CN" sz="1400" dirty="0">
              <a:solidFill>
                <a:srgbClr val="FFFFFF"/>
              </a:solidFill>
              <a:latin typeface="Crimson Pro"/>
              <a:ea typeface="Crimson Pro"/>
              <a:cs typeface="Crimson Pro"/>
              <a:sym typeface="Crimson Pro"/>
            </a:endParaRPr>
          </a:p>
        </p:txBody>
      </p:sp>
      <p:sp>
        <p:nvSpPr>
          <p:cNvPr id="27" name="TextBox 6">
            <a:extLst>
              <a:ext uri="{FF2B5EF4-FFF2-40B4-BE49-F238E27FC236}">
                <a16:creationId xmlns:a16="http://schemas.microsoft.com/office/drawing/2014/main" id="{3AA85241-11CD-8B72-FE0B-7292E90E0857}"/>
              </a:ext>
            </a:extLst>
          </p:cNvPr>
          <p:cNvSpPr txBox="1"/>
          <p:nvPr/>
        </p:nvSpPr>
        <p:spPr>
          <a:xfrm>
            <a:off x="-5164654" y="288677"/>
            <a:ext cx="14068744" cy="1443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6"/>
              </a:lnSpc>
            </a:pPr>
            <a:r>
              <a:rPr lang="zh-CN" altLang="en-US" sz="4112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特殊效果实现</a:t>
            </a:r>
            <a:endParaRPr lang="en-US" sz="4112" dirty="0">
              <a:solidFill>
                <a:srgbClr val="FFFFFF"/>
              </a:solidFill>
              <a:latin typeface="梅明朝"/>
              <a:ea typeface="梅明朝"/>
              <a:cs typeface="梅明朝"/>
              <a:sym typeface="梅明朝"/>
            </a:endParaRPr>
          </a:p>
          <a:p>
            <a:pPr marL="0" lvl="0" indent="0" algn="ctr">
              <a:lnSpc>
                <a:spcPts val="5756"/>
              </a:lnSpc>
              <a:spcBef>
                <a:spcPct val="0"/>
              </a:spcBef>
            </a:pPr>
            <a:endParaRPr lang="en-US" sz="4112" dirty="0">
              <a:solidFill>
                <a:srgbClr val="FFFFFF"/>
              </a:solidFill>
              <a:latin typeface="梅明朝"/>
              <a:ea typeface="梅明朝"/>
              <a:cs typeface="梅明朝"/>
              <a:sym typeface="梅明朝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66542" y="5633042"/>
            <a:ext cx="4865165" cy="3095461"/>
          </a:xfrm>
          <a:custGeom>
            <a:avLst/>
            <a:gdLst/>
            <a:ahLst/>
            <a:cxnLst/>
            <a:rect l="l" t="t" r="r" b="b"/>
            <a:pathLst>
              <a:path w="4865165" h="3095461">
                <a:moveTo>
                  <a:pt x="0" y="0"/>
                </a:moveTo>
                <a:lnTo>
                  <a:pt x="4865165" y="0"/>
                </a:lnTo>
                <a:lnTo>
                  <a:pt x="4865165" y="3095461"/>
                </a:lnTo>
                <a:lnTo>
                  <a:pt x="0" y="30954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1028700" y="5633042"/>
            <a:ext cx="9037842" cy="3095461"/>
          </a:xfrm>
          <a:custGeom>
            <a:avLst/>
            <a:gdLst/>
            <a:ahLst/>
            <a:cxnLst/>
            <a:rect l="l" t="t" r="r" b="b"/>
            <a:pathLst>
              <a:path w="9037842" h="3095461">
                <a:moveTo>
                  <a:pt x="0" y="0"/>
                </a:moveTo>
                <a:lnTo>
                  <a:pt x="9037842" y="0"/>
                </a:lnTo>
                <a:lnTo>
                  <a:pt x="9037842" y="3095461"/>
                </a:lnTo>
                <a:lnTo>
                  <a:pt x="0" y="30954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4" name="Freeform 4"/>
          <p:cNvSpPr/>
          <p:nvPr/>
        </p:nvSpPr>
        <p:spPr>
          <a:xfrm>
            <a:off x="10066542" y="3397925"/>
            <a:ext cx="4865165" cy="2235118"/>
          </a:xfrm>
          <a:custGeom>
            <a:avLst/>
            <a:gdLst/>
            <a:ahLst/>
            <a:cxnLst/>
            <a:rect l="l" t="t" r="r" b="b"/>
            <a:pathLst>
              <a:path w="4865165" h="2235118">
                <a:moveTo>
                  <a:pt x="0" y="0"/>
                </a:moveTo>
                <a:lnTo>
                  <a:pt x="4865165" y="0"/>
                </a:lnTo>
                <a:lnTo>
                  <a:pt x="4865165" y="2235117"/>
                </a:lnTo>
                <a:lnTo>
                  <a:pt x="0" y="22351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505" b="-5505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5" name="Freeform 5"/>
          <p:cNvSpPr/>
          <p:nvPr/>
        </p:nvSpPr>
        <p:spPr>
          <a:xfrm>
            <a:off x="4390052" y="3397925"/>
            <a:ext cx="5676490" cy="2235118"/>
          </a:xfrm>
          <a:custGeom>
            <a:avLst/>
            <a:gdLst/>
            <a:ahLst/>
            <a:cxnLst/>
            <a:rect l="l" t="t" r="r" b="b"/>
            <a:pathLst>
              <a:path w="5676490" h="2235118">
                <a:moveTo>
                  <a:pt x="0" y="0"/>
                </a:moveTo>
                <a:lnTo>
                  <a:pt x="5676490" y="0"/>
                </a:lnTo>
                <a:lnTo>
                  <a:pt x="5676490" y="2235117"/>
                </a:lnTo>
                <a:lnTo>
                  <a:pt x="0" y="22351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6"/>
          <p:cNvSpPr txBox="1"/>
          <p:nvPr/>
        </p:nvSpPr>
        <p:spPr>
          <a:xfrm>
            <a:off x="459780" y="8642778"/>
            <a:ext cx="14068744" cy="1443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6"/>
              </a:lnSpc>
            </a:pPr>
            <a:r>
              <a:rPr lang="en-US" sz="4112" dirty="0" err="1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乌萨奇三渲二，以及基于相机视角的仿蜡笔画描边和尾部追踪</a:t>
            </a:r>
            <a:endParaRPr lang="en-US" sz="4112" dirty="0">
              <a:solidFill>
                <a:srgbClr val="FFFFFF"/>
              </a:solidFill>
              <a:latin typeface="梅明朝"/>
              <a:ea typeface="梅明朝"/>
              <a:cs typeface="梅明朝"/>
              <a:sym typeface="梅明朝"/>
            </a:endParaRPr>
          </a:p>
          <a:p>
            <a:pPr marL="0" lvl="0" indent="0" algn="ctr">
              <a:lnSpc>
                <a:spcPts val="5756"/>
              </a:lnSpc>
              <a:spcBef>
                <a:spcPct val="0"/>
              </a:spcBef>
            </a:pPr>
            <a:endParaRPr lang="en-US" sz="4112" dirty="0">
              <a:solidFill>
                <a:srgbClr val="FFFFFF"/>
              </a:solidFill>
              <a:latin typeface="梅明朝"/>
              <a:ea typeface="梅明朝"/>
              <a:cs typeface="梅明朝"/>
              <a:sym typeface="梅明朝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394554" y="2753982"/>
            <a:ext cx="8318536" cy="1202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26"/>
              </a:lnSpc>
            </a:pPr>
            <a:r>
              <a:rPr lang="en-US" sz="3447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使用贝塞尔曲线定制节日祝福粒子效果动画</a:t>
            </a:r>
          </a:p>
          <a:p>
            <a:pPr marL="0" lvl="0" indent="0" algn="ctr">
              <a:lnSpc>
                <a:spcPts val="4826"/>
              </a:lnSpc>
              <a:spcBef>
                <a:spcPct val="0"/>
              </a:spcBef>
            </a:pPr>
            <a:endParaRPr lang="en-US" sz="3447">
              <a:solidFill>
                <a:srgbClr val="FFFFFF"/>
              </a:solidFill>
              <a:latin typeface="梅明朝"/>
              <a:ea typeface="梅明朝"/>
              <a:cs typeface="梅明朝"/>
              <a:sym typeface="梅明朝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59780" y="215737"/>
            <a:ext cx="12585609" cy="1454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02"/>
              </a:lnSpc>
              <a:spcBef>
                <a:spcPct val="0"/>
              </a:spcBef>
            </a:pPr>
            <a:r>
              <a:rPr lang="en-US" sz="8501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bledner几何节点特殊效果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B9DE6F-00E4-0E95-6CEE-1BC643880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7B1AB9FE-36F5-4FD1-9850-DB5C5AD48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89C2BFC-0032-2BD6-A371-FAA5C01EC7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000"/>
          <a:stretch>
            <a:fillRect/>
          </a:stretch>
        </p:blipFill>
        <p:spPr>
          <a:xfrm>
            <a:off x="20" y="10"/>
            <a:ext cx="18287978" cy="8229590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229603"/>
            <a:ext cx="18288000" cy="2057397"/>
          </a:xfrm>
          <a:prstGeom prst="rect">
            <a:avLst/>
          </a:prstGeom>
          <a:ln>
            <a:noFill/>
          </a:ln>
          <a:effectLst>
            <a:outerShdw blurRad="254000" dist="114300" dir="20340000" sx="89000" sy="89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5E4CAF2-566D-ABBF-59E8-55F11C2CC238}"/>
              </a:ext>
            </a:extLst>
          </p:cNvPr>
          <p:cNvSpPr txBox="1"/>
          <p:nvPr/>
        </p:nvSpPr>
        <p:spPr>
          <a:xfrm>
            <a:off x="884334" y="8619106"/>
            <a:ext cx="10523248" cy="12783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5400">
                <a:latin typeface="+mj-lt"/>
                <a:ea typeface="+mj-ea"/>
                <a:cs typeface="+mj-cs"/>
                <a:sym typeface="IPAex 明朝"/>
              </a:rPr>
              <a:t>杂项材质蓝图效果展示</a:t>
            </a:r>
            <a:endParaRPr lang="en-US" sz="5400">
              <a:latin typeface="+mj-lt"/>
              <a:ea typeface="+mj-ea"/>
              <a:cs typeface="+mj-cs"/>
              <a:sym typeface="IPAex 明朝"/>
            </a:endParaRP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B0320C53-0214-D0DB-A8DA-FDCC7E90D020}"/>
              </a:ext>
            </a:extLst>
          </p:cNvPr>
          <p:cNvSpPr txBox="1"/>
          <p:nvPr/>
        </p:nvSpPr>
        <p:spPr>
          <a:xfrm>
            <a:off x="11407584" y="8619106"/>
            <a:ext cx="6172201" cy="12783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r">
              <a:lnSpc>
                <a:spcPct val="90000"/>
              </a:lnSpc>
              <a:spcBef>
                <a:spcPts val="1000"/>
              </a:spcBef>
            </a:pPr>
            <a:r>
              <a:rPr lang="zh-CN" altLang="en-US" sz="3000">
                <a:sym typeface="梅明朝"/>
              </a:rPr>
              <a:t>以下为本人笔记内容</a:t>
            </a:r>
            <a:endParaRPr lang="en-US" sz="3000">
              <a:sym typeface="梅明朝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6E1C034F-6B78-5043-50D0-0980D10148CC}"/>
              </a:ext>
            </a:extLst>
          </p:cNvPr>
          <p:cNvSpPr txBox="1"/>
          <p:nvPr/>
        </p:nvSpPr>
        <p:spPr>
          <a:xfrm>
            <a:off x="-152400" y="8534642"/>
            <a:ext cx="14068744" cy="618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56"/>
              </a:lnSpc>
              <a:spcBef>
                <a:spcPct val="0"/>
              </a:spcBef>
            </a:pPr>
            <a:endParaRPr lang="en-US" sz="2800" dirty="0">
              <a:solidFill>
                <a:srgbClr val="FFFFFF"/>
              </a:solidFill>
              <a:latin typeface="梅明朝"/>
              <a:ea typeface="梅明朝"/>
              <a:cs typeface="梅明朝"/>
              <a:sym typeface="梅明朝"/>
            </a:endParaRPr>
          </a:p>
        </p:txBody>
      </p:sp>
    </p:spTree>
    <p:extLst>
      <p:ext uri="{BB962C8B-B14F-4D97-AF65-F5344CB8AC3E}">
        <p14:creationId xmlns:p14="http://schemas.microsoft.com/office/powerpoint/2010/main" val="2099521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37EFE-0046-C45F-E612-8D2CE732C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9B6FF09-8926-78C7-812D-49992D93ECB5}"/>
              </a:ext>
            </a:extLst>
          </p:cNvPr>
          <p:cNvSpPr txBox="1"/>
          <p:nvPr/>
        </p:nvSpPr>
        <p:spPr>
          <a:xfrm>
            <a:off x="1028700" y="7945718"/>
            <a:ext cx="2636098" cy="32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8"/>
              </a:lnSpc>
            </a:pPr>
            <a:r>
              <a:rPr lang="en-US" sz="2408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2971762643@qq.com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F43F252-8F6B-AEEC-F0A7-FE6C3F92D06B}"/>
              </a:ext>
            </a:extLst>
          </p:cNvPr>
          <p:cNvSpPr txBox="1"/>
          <p:nvPr/>
        </p:nvSpPr>
        <p:spPr>
          <a:xfrm>
            <a:off x="926848" y="8827076"/>
            <a:ext cx="6012386" cy="1867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5"/>
              </a:lnSpc>
            </a:pPr>
            <a:r>
              <a:rPr lang="en-US" sz="7195" b="1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PORTFOLIO</a:t>
            </a:r>
          </a:p>
          <a:p>
            <a:pPr algn="l">
              <a:lnSpc>
                <a:spcPts val="7195"/>
              </a:lnSpc>
            </a:pPr>
            <a:endParaRPr lang="en-US" sz="7195" b="1">
              <a:solidFill>
                <a:srgbClr val="FFFFFF"/>
              </a:solidFill>
              <a:latin typeface="TT Ramillas Bold"/>
              <a:ea typeface="TT Ramillas Bold"/>
              <a:cs typeface="TT Ramillas Bold"/>
              <a:sym typeface="TT Ramillas Bold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73259F8-62F6-CABE-E43F-94FE8B2D1821}"/>
              </a:ext>
            </a:extLst>
          </p:cNvPr>
          <p:cNvSpPr txBox="1"/>
          <p:nvPr/>
        </p:nvSpPr>
        <p:spPr>
          <a:xfrm>
            <a:off x="1028700" y="8338244"/>
            <a:ext cx="4092532" cy="474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8"/>
              </a:lnSpc>
            </a:pPr>
            <a:r>
              <a:rPr lang="en-US" sz="3738" dirty="0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李东盛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7A484FF-604B-D385-2C29-098D80F4654E}"/>
              </a:ext>
            </a:extLst>
          </p:cNvPr>
          <p:cNvSpPr txBox="1"/>
          <p:nvPr/>
        </p:nvSpPr>
        <p:spPr>
          <a:xfrm>
            <a:off x="1028700" y="7581768"/>
            <a:ext cx="2636098" cy="32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8"/>
              </a:lnSpc>
            </a:pPr>
            <a:r>
              <a:rPr lang="en-US" sz="2408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18098302488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0BF9B61-EBA2-82D1-670C-A0070EB7129B}"/>
              </a:ext>
            </a:extLst>
          </p:cNvPr>
          <p:cNvSpPr txBox="1"/>
          <p:nvPr/>
        </p:nvSpPr>
        <p:spPr>
          <a:xfrm>
            <a:off x="5087073" y="129710"/>
            <a:ext cx="10198124" cy="561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210"/>
              </a:lnSpc>
              <a:spcBef>
                <a:spcPct val="0"/>
              </a:spcBef>
            </a:pPr>
            <a:r>
              <a:rPr lang="zh-CN" altLang="en-US" sz="96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虚幻五蓝图方向</a:t>
            </a:r>
            <a:endParaRPr lang="en-US" sz="9600" dirty="0">
              <a:solidFill>
                <a:srgbClr val="FFFFFF"/>
              </a:solidFill>
              <a:latin typeface="梅明朝"/>
              <a:ea typeface="梅明朝"/>
              <a:cs typeface="梅明朝"/>
              <a:sym typeface="梅明朝"/>
            </a:endParaRPr>
          </a:p>
        </p:txBody>
      </p:sp>
    </p:spTree>
    <p:extLst>
      <p:ext uri="{BB962C8B-B14F-4D97-AF65-F5344CB8AC3E}">
        <p14:creationId xmlns:p14="http://schemas.microsoft.com/office/powerpoint/2010/main" val="2859799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AB6CF-FF82-A9C6-78F2-1A414EE9E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62141FC6-FF56-6BCA-633B-C3F6326298BB}"/>
              </a:ext>
            </a:extLst>
          </p:cNvPr>
          <p:cNvSpPr txBox="1"/>
          <p:nvPr/>
        </p:nvSpPr>
        <p:spPr>
          <a:xfrm>
            <a:off x="-2144881" y="5600700"/>
            <a:ext cx="14068744" cy="618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56"/>
              </a:lnSpc>
              <a:spcBef>
                <a:spcPct val="0"/>
              </a:spcBef>
            </a:pPr>
            <a:r>
              <a:rPr lang="en-US" altLang="zh-CN" sz="2800" dirty="0" err="1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json</a:t>
            </a:r>
            <a:r>
              <a:rPr lang="en-US" altLang="zh-CN" sz="28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 catch</a:t>
            </a:r>
            <a:r>
              <a:rPr lang="zh-CN" altLang="en-US" sz="28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蓝图，获取本地服务器爬虫抓取的直播间数据</a:t>
            </a:r>
            <a:endParaRPr lang="en-US" sz="2800" dirty="0">
              <a:solidFill>
                <a:srgbClr val="FFFFFF"/>
              </a:solidFill>
              <a:latin typeface="梅明朝"/>
              <a:ea typeface="梅明朝"/>
              <a:cs typeface="梅明朝"/>
              <a:sym typeface="梅明朝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EED6983-136E-D37A-AA78-85785F773D43}"/>
              </a:ext>
            </a:extLst>
          </p:cNvPr>
          <p:cNvSpPr txBox="1"/>
          <p:nvPr/>
        </p:nvSpPr>
        <p:spPr>
          <a:xfrm>
            <a:off x="-533400" y="-366836"/>
            <a:ext cx="12585609" cy="130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02"/>
              </a:lnSpc>
              <a:spcBef>
                <a:spcPct val="0"/>
              </a:spcBef>
            </a:pPr>
            <a:r>
              <a:rPr lang="zh-CN" altLang="en-US" sz="4800" dirty="0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部分蓝图实现效果</a:t>
            </a:r>
            <a:r>
              <a:rPr lang="en-US" altLang="zh-CN" sz="4800" dirty="0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——</a:t>
            </a:r>
            <a:r>
              <a:rPr lang="zh-CN" altLang="en-US" sz="4800" dirty="0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虚幻五互动直播间</a:t>
            </a:r>
            <a:endParaRPr lang="en-US" sz="4800" dirty="0">
              <a:solidFill>
                <a:srgbClr val="FFFFFF"/>
              </a:solidFill>
              <a:latin typeface="IPAex 明朝"/>
              <a:ea typeface="IPAex 明朝"/>
              <a:cs typeface="IPAex 明朝"/>
              <a:sym typeface="IPAex 明朝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1E6893A-C204-647E-3550-2771B0BC7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79" y="1452838"/>
            <a:ext cx="8859423" cy="424890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7D73D95-ED46-459A-7EA8-6BDBEE80A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96" y="6286500"/>
            <a:ext cx="8630748" cy="2664456"/>
          </a:xfrm>
          <a:prstGeom prst="rect">
            <a:avLst/>
          </a:prstGeom>
        </p:spPr>
      </p:pic>
      <p:sp>
        <p:nvSpPr>
          <p:cNvPr id="13" name="TextBox 6">
            <a:extLst>
              <a:ext uri="{FF2B5EF4-FFF2-40B4-BE49-F238E27FC236}">
                <a16:creationId xmlns:a16="http://schemas.microsoft.com/office/drawing/2014/main" id="{2746852E-FA81-1D2A-B19D-DD499302EA54}"/>
              </a:ext>
            </a:extLst>
          </p:cNvPr>
          <p:cNvSpPr txBox="1"/>
          <p:nvPr/>
        </p:nvSpPr>
        <p:spPr>
          <a:xfrm>
            <a:off x="-1752600" y="8949672"/>
            <a:ext cx="14068744" cy="618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56"/>
              </a:lnSpc>
              <a:spcBef>
                <a:spcPct val="0"/>
              </a:spcBef>
            </a:pPr>
            <a:r>
              <a:rPr lang="zh-CN" altLang="en-US" sz="28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生成器，根据抓取传回的数据生成，例如点赞生成打印用户的方块</a:t>
            </a:r>
            <a:endParaRPr lang="en-US" sz="2800" dirty="0">
              <a:solidFill>
                <a:srgbClr val="FFFFFF"/>
              </a:solidFill>
              <a:latin typeface="梅明朝"/>
              <a:ea typeface="梅明朝"/>
              <a:cs typeface="梅明朝"/>
              <a:sym typeface="梅明朝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954BB6B-E2D8-BB2A-CF11-96DEEA5CA5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400" y="827800"/>
            <a:ext cx="7467600" cy="498456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51D6541-E1B1-C118-CC7F-3F1A3CCBBD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4867213"/>
            <a:ext cx="5263134" cy="4358097"/>
          </a:xfrm>
          <a:prstGeom prst="rect">
            <a:avLst/>
          </a:prstGeom>
        </p:spPr>
      </p:pic>
      <p:sp>
        <p:nvSpPr>
          <p:cNvPr id="18" name="TextBox 6">
            <a:extLst>
              <a:ext uri="{FF2B5EF4-FFF2-40B4-BE49-F238E27FC236}">
                <a16:creationId xmlns:a16="http://schemas.microsoft.com/office/drawing/2014/main" id="{390619C5-6BB2-16D4-E8B2-3FCDC566A42A}"/>
              </a:ext>
            </a:extLst>
          </p:cNvPr>
          <p:cNvSpPr txBox="1"/>
          <p:nvPr/>
        </p:nvSpPr>
        <p:spPr>
          <a:xfrm>
            <a:off x="6934200" y="9101514"/>
            <a:ext cx="14068744" cy="618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56"/>
              </a:lnSpc>
              <a:spcBef>
                <a:spcPct val="0"/>
              </a:spcBef>
            </a:pPr>
            <a:r>
              <a:rPr lang="zh-CN" altLang="en-US" sz="28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效果演示</a:t>
            </a:r>
            <a:endParaRPr lang="en-US" sz="2800" dirty="0">
              <a:solidFill>
                <a:srgbClr val="FFFFFF"/>
              </a:solidFill>
              <a:latin typeface="梅明朝"/>
              <a:ea typeface="梅明朝"/>
              <a:cs typeface="梅明朝"/>
              <a:sym typeface="梅明朝"/>
            </a:endParaRPr>
          </a:p>
        </p:txBody>
      </p:sp>
    </p:spTree>
    <p:extLst>
      <p:ext uri="{BB962C8B-B14F-4D97-AF65-F5344CB8AC3E}">
        <p14:creationId xmlns:p14="http://schemas.microsoft.com/office/powerpoint/2010/main" val="28718350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3E87C-2752-DF4E-6995-067AB20CD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F03F43DE-AAEE-B477-8292-66A724A90719}"/>
              </a:ext>
            </a:extLst>
          </p:cNvPr>
          <p:cNvSpPr txBox="1"/>
          <p:nvPr/>
        </p:nvSpPr>
        <p:spPr>
          <a:xfrm>
            <a:off x="-1480835" y="-276062"/>
            <a:ext cx="12585609" cy="130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02"/>
              </a:lnSpc>
              <a:spcBef>
                <a:spcPct val="0"/>
              </a:spcBef>
            </a:pPr>
            <a:r>
              <a:rPr lang="zh-CN" altLang="en-US" sz="4800" dirty="0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部分蓝图实现效果</a:t>
            </a:r>
            <a:r>
              <a:rPr lang="en-US" altLang="zh-CN" sz="4800" dirty="0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——</a:t>
            </a:r>
            <a:r>
              <a:rPr lang="zh-CN" altLang="en-US" sz="4800" dirty="0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战斗系统</a:t>
            </a:r>
            <a:r>
              <a:rPr lang="en-US" altLang="zh-CN" sz="4800" dirty="0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1</a:t>
            </a:r>
            <a:endParaRPr lang="en-US" sz="4800" dirty="0">
              <a:solidFill>
                <a:srgbClr val="FFFFFF"/>
              </a:solidFill>
              <a:latin typeface="IPAex 明朝"/>
              <a:ea typeface="IPAex 明朝"/>
              <a:cs typeface="IPAex 明朝"/>
              <a:sym typeface="IPAex 明朝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D6B6B63B-A01C-3932-FD73-41C467C53306}"/>
              </a:ext>
            </a:extLst>
          </p:cNvPr>
          <p:cNvSpPr txBox="1"/>
          <p:nvPr/>
        </p:nvSpPr>
        <p:spPr>
          <a:xfrm>
            <a:off x="-4558215" y="6147623"/>
            <a:ext cx="14068744" cy="618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56"/>
              </a:lnSpc>
              <a:spcBef>
                <a:spcPct val="0"/>
              </a:spcBef>
            </a:pPr>
            <a:r>
              <a:rPr lang="zh-CN" altLang="en-US" sz="28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基于</a:t>
            </a:r>
            <a:r>
              <a:rPr lang="en-US" altLang="zh-CN" sz="28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UMG</a:t>
            </a:r>
            <a:r>
              <a:rPr lang="zh-CN" altLang="en-US" sz="28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实现的动态血条</a:t>
            </a:r>
            <a:endParaRPr lang="en-US" sz="2800" dirty="0">
              <a:solidFill>
                <a:srgbClr val="FFFFFF"/>
              </a:solidFill>
              <a:latin typeface="梅明朝"/>
              <a:ea typeface="梅明朝"/>
              <a:cs typeface="梅明朝"/>
              <a:sym typeface="梅明朝"/>
            </a:endParaRP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10601CCD-9D4A-0B31-34B7-995E5CA19D02}"/>
              </a:ext>
            </a:extLst>
          </p:cNvPr>
          <p:cNvSpPr txBox="1"/>
          <p:nvPr/>
        </p:nvSpPr>
        <p:spPr>
          <a:xfrm>
            <a:off x="6573117" y="9573772"/>
            <a:ext cx="14068744" cy="618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56"/>
              </a:lnSpc>
              <a:spcBef>
                <a:spcPct val="0"/>
              </a:spcBef>
            </a:pPr>
            <a:r>
              <a:rPr lang="zh-CN" altLang="en-US" sz="28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右键追踪弹以及</a:t>
            </a:r>
            <a:r>
              <a:rPr lang="en-US" altLang="zh-CN" sz="28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tab</a:t>
            </a:r>
            <a:r>
              <a:rPr lang="zh-CN" altLang="en-US" sz="28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隐藏血条</a:t>
            </a:r>
            <a:endParaRPr lang="en-US" sz="2800" dirty="0">
              <a:solidFill>
                <a:srgbClr val="FFFFFF"/>
              </a:solidFill>
              <a:latin typeface="梅明朝"/>
              <a:ea typeface="梅明朝"/>
              <a:cs typeface="梅明朝"/>
              <a:sym typeface="梅明朝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CB5B42D-F5A4-FD3C-F829-63FDBCFA0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96940"/>
            <a:ext cx="7939972" cy="52615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F25042F-49EE-24CE-3D86-67637F778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572" y="6940471"/>
            <a:ext cx="3297314" cy="251021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7034736-E097-C55A-D016-C73FDCC59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05295"/>
            <a:ext cx="8926979" cy="4323693"/>
          </a:xfrm>
          <a:prstGeom prst="rect">
            <a:avLst/>
          </a:prstGeom>
        </p:spPr>
      </p:pic>
      <p:sp>
        <p:nvSpPr>
          <p:cNvPr id="11" name="TextBox 6">
            <a:extLst>
              <a:ext uri="{FF2B5EF4-FFF2-40B4-BE49-F238E27FC236}">
                <a16:creationId xmlns:a16="http://schemas.microsoft.com/office/drawing/2014/main" id="{87AA98A6-C4A6-260D-D25E-AADEC3ABDE3E}"/>
              </a:ext>
            </a:extLst>
          </p:cNvPr>
          <p:cNvSpPr txBox="1"/>
          <p:nvPr/>
        </p:nvSpPr>
        <p:spPr>
          <a:xfrm>
            <a:off x="6172200" y="4582892"/>
            <a:ext cx="14068744" cy="618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56"/>
              </a:lnSpc>
              <a:spcBef>
                <a:spcPct val="0"/>
              </a:spcBef>
            </a:pPr>
            <a:r>
              <a:rPr lang="en-US" altLang="zh-CN" sz="28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player</a:t>
            </a:r>
            <a:r>
              <a:rPr lang="zh-CN" altLang="en-US" sz="28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战斗系统，鼠标左键攻击</a:t>
            </a:r>
            <a:endParaRPr lang="en-US" sz="2800" dirty="0">
              <a:solidFill>
                <a:srgbClr val="FFFFFF"/>
              </a:solidFill>
              <a:latin typeface="梅明朝"/>
              <a:ea typeface="梅明朝"/>
              <a:cs typeface="梅明朝"/>
              <a:sym typeface="梅明朝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F19B2B5-CC70-D49D-9BDA-81D8DFE1E2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3857" y="5172416"/>
            <a:ext cx="8606943" cy="4430272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8365A03C-679A-1082-6F60-73FE85A75B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2648" y="6940471"/>
            <a:ext cx="3581447" cy="2854936"/>
          </a:xfrm>
          <a:prstGeom prst="rect">
            <a:avLst/>
          </a:prstGeom>
        </p:spPr>
      </p:pic>
      <p:sp>
        <p:nvSpPr>
          <p:cNvPr id="23" name="TextBox 6">
            <a:extLst>
              <a:ext uri="{FF2B5EF4-FFF2-40B4-BE49-F238E27FC236}">
                <a16:creationId xmlns:a16="http://schemas.microsoft.com/office/drawing/2014/main" id="{7C613D7F-6E33-2CC4-A84E-66DCD21785F7}"/>
              </a:ext>
            </a:extLst>
          </p:cNvPr>
          <p:cNvSpPr txBox="1"/>
          <p:nvPr/>
        </p:nvSpPr>
        <p:spPr>
          <a:xfrm>
            <a:off x="-381000" y="6210809"/>
            <a:ext cx="14068744" cy="618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56"/>
              </a:lnSpc>
              <a:spcBef>
                <a:spcPct val="0"/>
              </a:spcBef>
            </a:pPr>
            <a:r>
              <a:rPr lang="zh-CN" altLang="en-US" sz="28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死后布娃娃系统</a:t>
            </a:r>
            <a:endParaRPr lang="en-US" sz="2800" dirty="0">
              <a:solidFill>
                <a:srgbClr val="FFFFFF"/>
              </a:solidFill>
              <a:latin typeface="梅明朝"/>
              <a:ea typeface="梅明朝"/>
              <a:cs typeface="梅明朝"/>
              <a:sym typeface="梅明朝"/>
            </a:endParaRPr>
          </a:p>
        </p:txBody>
      </p:sp>
    </p:spTree>
    <p:extLst>
      <p:ext uri="{BB962C8B-B14F-4D97-AF65-F5344CB8AC3E}">
        <p14:creationId xmlns:p14="http://schemas.microsoft.com/office/powerpoint/2010/main" val="34969295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BBB77-572C-AB77-FE20-A7EB3432F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7011DB36-6E16-FAD2-B69B-098A597E499D}"/>
              </a:ext>
            </a:extLst>
          </p:cNvPr>
          <p:cNvSpPr txBox="1"/>
          <p:nvPr/>
        </p:nvSpPr>
        <p:spPr>
          <a:xfrm>
            <a:off x="-1480835" y="-276062"/>
            <a:ext cx="12585609" cy="130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02"/>
              </a:lnSpc>
              <a:spcBef>
                <a:spcPct val="0"/>
              </a:spcBef>
            </a:pPr>
            <a:r>
              <a:rPr lang="zh-CN" altLang="en-US" sz="4800" dirty="0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部分蓝图实现效果</a:t>
            </a:r>
            <a:r>
              <a:rPr lang="en-US" altLang="zh-CN" sz="4800" dirty="0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——</a:t>
            </a:r>
            <a:r>
              <a:rPr lang="zh-CN" altLang="en-US" sz="4800" dirty="0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战斗系统</a:t>
            </a:r>
            <a:r>
              <a:rPr lang="en-US" altLang="zh-CN" sz="4800" dirty="0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2</a:t>
            </a:r>
            <a:endParaRPr lang="en-US" sz="4800" dirty="0">
              <a:solidFill>
                <a:srgbClr val="FFFFFF"/>
              </a:solidFill>
              <a:latin typeface="IPAex 明朝"/>
              <a:ea typeface="IPAex 明朝"/>
              <a:cs typeface="IPAex 明朝"/>
              <a:sym typeface="IPAex 明朝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9A713E4F-0265-43F1-B57E-937624CC7350}"/>
              </a:ext>
            </a:extLst>
          </p:cNvPr>
          <p:cNvSpPr txBox="1"/>
          <p:nvPr/>
        </p:nvSpPr>
        <p:spPr>
          <a:xfrm>
            <a:off x="-2362200" y="4656270"/>
            <a:ext cx="14068744" cy="618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56"/>
              </a:lnSpc>
              <a:spcBef>
                <a:spcPct val="0"/>
              </a:spcBef>
            </a:pPr>
            <a:r>
              <a:rPr lang="en-US" altLang="zh-CN" sz="28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enemy</a:t>
            </a:r>
            <a:r>
              <a:rPr lang="zh-CN" altLang="en-US" sz="28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角色范围内追踪</a:t>
            </a:r>
            <a:r>
              <a:rPr lang="en-US" altLang="zh-CN" sz="28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player</a:t>
            </a:r>
            <a:endParaRPr lang="en-US" sz="2800" dirty="0">
              <a:solidFill>
                <a:srgbClr val="FFFFFF"/>
              </a:solidFill>
              <a:latin typeface="梅明朝"/>
              <a:ea typeface="梅明朝"/>
              <a:cs typeface="梅明朝"/>
              <a:sym typeface="梅明朝"/>
            </a:endParaRP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86B3616A-4D64-56F1-B602-9CF5B893F03A}"/>
              </a:ext>
            </a:extLst>
          </p:cNvPr>
          <p:cNvSpPr txBox="1"/>
          <p:nvPr/>
        </p:nvSpPr>
        <p:spPr>
          <a:xfrm>
            <a:off x="7162800" y="2944702"/>
            <a:ext cx="14068744" cy="618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56"/>
              </a:lnSpc>
              <a:spcBef>
                <a:spcPct val="0"/>
              </a:spcBef>
            </a:pPr>
            <a:r>
              <a:rPr lang="zh-CN" altLang="en-US" sz="28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场景中物理门</a:t>
            </a:r>
            <a:endParaRPr lang="en-US" sz="2800" dirty="0">
              <a:solidFill>
                <a:srgbClr val="FFFFFF"/>
              </a:solidFill>
              <a:latin typeface="梅明朝"/>
              <a:ea typeface="梅明朝"/>
              <a:cs typeface="梅明朝"/>
              <a:sym typeface="梅明朝"/>
            </a:endParaRP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904352A6-BDDF-4484-4164-40948205B25B}"/>
              </a:ext>
            </a:extLst>
          </p:cNvPr>
          <p:cNvSpPr txBox="1"/>
          <p:nvPr/>
        </p:nvSpPr>
        <p:spPr>
          <a:xfrm>
            <a:off x="-2590800" y="9093281"/>
            <a:ext cx="14068744" cy="618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56"/>
              </a:lnSpc>
              <a:spcBef>
                <a:spcPct val="0"/>
              </a:spcBef>
            </a:pPr>
            <a:r>
              <a:rPr lang="zh-CN" altLang="en-US" sz="28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范围内接触爆炸陷阱</a:t>
            </a:r>
            <a:endParaRPr lang="en-US" sz="2800" dirty="0">
              <a:solidFill>
                <a:srgbClr val="FFFFFF"/>
              </a:solidFill>
              <a:latin typeface="梅明朝"/>
              <a:ea typeface="梅明朝"/>
              <a:cs typeface="梅明朝"/>
              <a:sym typeface="梅明朝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D7CE5D4-FCCB-7FAF-B92C-95C7F764D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193719"/>
            <a:ext cx="9459093" cy="360427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1365EFA-1592-7BA5-5C49-57EB2DF6B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47" y="5320681"/>
            <a:ext cx="9884797" cy="37726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C55D0EC-7C36-AE8E-DF59-719274D80E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2944" y="548383"/>
            <a:ext cx="8159972" cy="244747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6F8ACFD-0BCC-5512-C2CE-A71E04A9B4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615" y="3820299"/>
            <a:ext cx="7990769" cy="3604270"/>
          </a:xfrm>
          <a:prstGeom prst="rect">
            <a:avLst/>
          </a:prstGeom>
        </p:spPr>
      </p:pic>
      <p:sp>
        <p:nvSpPr>
          <p:cNvPr id="17" name="TextBox 6">
            <a:extLst>
              <a:ext uri="{FF2B5EF4-FFF2-40B4-BE49-F238E27FC236}">
                <a16:creationId xmlns:a16="http://schemas.microsoft.com/office/drawing/2014/main" id="{68FC7680-211A-4DB7-9A2D-B06F126E18E8}"/>
              </a:ext>
            </a:extLst>
          </p:cNvPr>
          <p:cNvSpPr txBox="1"/>
          <p:nvPr/>
        </p:nvSpPr>
        <p:spPr>
          <a:xfrm>
            <a:off x="7098558" y="7381713"/>
            <a:ext cx="14068744" cy="1362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56"/>
              </a:lnSpc>
              <a:spcBef>
                <a:spcPct val="0"/>
              </a:spcBef>
            </a:pPr>
            <a:r>
              <a:rPr lang="zh-CN" altLang="en-US" sz="28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伤害系统蓝图</a:t>
            </a:r>
            <a:endParaRPr lang="en-US" altLang="zh-CN" sz="2800" dirty="0">
              <a:solidFill>
                <a:srgbClr val="FFFFFF"/>
              </a:solidFill>
              <a:latin typeface="梅明朝"/>
              <a:ea typeface="梅明朝"/>
              <a:cs typeface="梅明朝"/>
              <a:sym typeface="梅明朝"/>
            </a:endParaRPr>
          </a:p>
          <a:p>
            <a:pPr marL="0" lvl="0" indent="0" algn="ctr">
              <a:lnSpc>
                <a:spcPts val="5756"/>
              </a:lnSpc>
              <a:spcBef>
                <a:spcPct val="0"/>
              </a:spcBef>
            </a:pPr>
            <a:endParaRPr lang="en-US" sz="2800" dirty="0">
              <a:solidFill>
                <a:srgbClr val="FFFFFF"/>
              </a:solidFill>
              <a:latin typeface="梅明朝"/>
              <a:ea typeface="梅明朝"/>
              <a:cs typeface="梅明朝"/>
              <a:sym typeface="梅明朝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130D9F5C-1E27-1299-05E8-98D1D9E80C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4177" y="8200351"/>
            <a:ext cx="7517506" cy="1223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137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95956-2C5D-9D55-8DF2-B14775ED3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583592D5-626B-940D-FBDC-D1DA29843580}"/>
              </a:ext>
            </a:extLst>
          </p:cNvPr>
          <p:cNvSpPr txBox="1"/>
          <p:nvPr/>
        </p:nvSpPr>
        <p:spPr>
          <a:xfrm>
            <a:off x="-762000" y="-452093"/>
            <a:ext cx="12585609" cy="130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02"/>
              </a:lnSpc>
              <a:spcBef>
                <a:spcPct val="0"/>
              </a:spcBef>
            </a:pPr>
            <a:r>
              <a:rPr lang="zh-CN" altLang="en-US" sz="4800" dirty="0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部分蓝图实现效果</a:t>
            </a:r>
            <a:r>
              <a:rPr lang="en-US" altLang="zh-CN" sz="4800" dirty="0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——</a:t>
            </a:r>
            <a:r>
              <a:rPr lang="zh-CN" altLang="en-US" sz="4800" dirty="0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骨骼动画以及玩法</a:t>
            </a:r>
            <a:endParaRPr lang="en-US" sz="4800" dirty="0">
              <a:solidFill>
                <a:srgbClr val="FFFFFF"/>
              </a:solidFill>
              <a:latin typeface="IPAex 明朝"/>
              <a:ea typeface="IPAex 明朝"/>
              <a:cs typeface="IPAex 明朝"/>
              <a:sym typeface="IPAex 明朝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ACB358B1-656B-EFC7-96F8-EDBAE390ACBD}"/>
              </a:ext>
            </a:extLst>
          </p:cNvPr>
          <p:cNvSpPr txBox="1"/>
          <p:nvPr/>
        </p:nvSpPr>
        <p:spPr>
          <a:xfrm>
            <a:off x="-2362200" y="4656270"/>
            <a:ext cx="14068744" cy="618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56"/>
              </a:lnSpc>
              <a:spcBef>
                <a:spcPct val="0"/>
              </a:spcBef>
            </a:pPr>
            <a:r>
              <a:rPr lang="zh-CN" altLang="en-US" sz="28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随机游走</a:t>
            </a:r>
            <a:r>
              <a:rPr lang="en-US" altLang="zh-CN" sz="28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NPC</a:t>
            </a:r>
            <a:r>
              <a:rPr lang="zh-CN" altLang="en-US" sz="28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，被触碰时增加玩家积分</a:t>
            </a:r>
            <a:endParaRPr lang="en-US" sz="2800" dirty="0">
              <a:solidFill>
                <a:srgbClr val="FFFFFF"/>
              </a:solidFill>
              <a:latin typeface="梅明朝"/>
              <a:ea typeface="梅明朝"/>
              <a:cs typeface="梅明朝"/>
              <a:sym typeface="梅明朝"/>
            </a:endParaRP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EBD3FBFF-89BE-88D2-DF2F-6B04B0C3D6E1}"/>
              </a:ext>
            </a:extLst>
          </p:cNvPr>
          <p:cNvSpPr txBox="1"/>
          <p:nvPr/>
        </p:nvSpPr>
        <p:spPr>
          <a:xfrm>
            <a:off x="8839200" y="709880"/>
            <a:ext cx="8248043" cy="13622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756"/>
              </a:lnSpc>
              <a:spcBef>
                <a:spcPct val="0"/>
              </a:spcBef>
            </a:pPr>
            <a:r>
              <a:rPr lang="zh-CN" altLang="en-US" sz="28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项目中有关骨骼动画实现案例较少，只制作过随机游走的简单</a:t>
            </a:r>
            <a:r>
              <a:rPr lang="en-US" altLang="zh-CN" sz="28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NPC</a:t>
            </a:r>
            <a:endParaRPr lang="en-US" sz="2800" dirty="0">
              <a:solidFill>
                <a:srgbClr val="FFFFFF"/>
              </a:solidFill>
              <a:latin typeface="梅明朝"/>
              <a:ea typeface="梅明朝"/>
              <a:cs typeface="梅明朝"/>
              <a:sym typeface="梅明朝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58DAE47-96C9-00F8-C110-CC03B0202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60" y="1042457"/>
            <a:ext cx="7976024" cy="382946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DC6F593-6B5A-8993-63BE-FF2521602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0249" y="1540786"/>
            <a:ext cx="3232451" cy="7467845"/>
          </a:xfrm>
          <a:prstGeom prst="rect">
            <a:avLst/>
          </a:prstGeom>
        </p:spPr>
      </p:pic>
      <p:sp>
        <p:nvSpPr>
          <p:cNvPr id="9" name="TextBox 6">
            <a:extLst>
              <a:ext uri="{FF2B5EF4-FFF2-40B4-BE49-F238E27FC236}">
                <a16:creationId xmlns:a16="http://schemas.microsoft.com/office/drawing/2014/main" id="{D1470BAC-5D89-00A7-C2FF-E8FC38E6396D}"/>
              </a:ext>
            </a:extLst>
          </p:cNvPr>
          <p:cNvSpPr txBox="1"/>
          <p:nvPr/>
        </p:nvSpPr>
        <p:spPr>
          <a:xfrm>
            <a:off x="-152400" y="8534642"/>
            <a:ext cx="14068744" cy="618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56"/>
              </a:lnSpc>
              <a:spcBef>
                <a:spcPct val="0"/>
              </a:spcBef>
            </a:pPr>
            <a:endParaRPr lang="en-US" sz="2800" dirty="0">
              <a:solidFill>
                <a:srgbClr val="FFFFFF"/>
              </a:solidFill>
              <a:latin typeface="梅明朝"/>
              <a:ea typeface="梅明朝"/>
              <a:cs typeface="梅明朝"/>
              <a:sym typeface="梅明朝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9075A25-724C-2172-6B02-EAC8BF580D1B}"/>
              </a:ext>
            </a:extLst>
          </p:cNvPr>
          <p:cNvSpPr txBox="1"/>
          <p:nvPr/>
        </p:nvSpPr>
        <p:spPr>
          <a:xfrm>
            <a:off x="228600" y="5771535"/>
            <a:ext cx="25908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b="1" i="0" dirty="0">
                <a:solidFill>
                  <a:srgbClr val="F9FAFB"/>
                </a:solidFill>
                <a:effectLst/>
                <a:latin typeface="quote-cjk-patch"/>
              </a:rPr>
              <a:t>利用混合空间（Blend Space）实现参数化动画驱动：通过监听角色移动速度，动态控制待机与行走动画的平滑过渡。当速度归零时自动切换至待机状态；速度大于零时，则根据当前速率在待机和行走动画间进行线性插值混合，确保角色移动表现自然流畅。</a:t>
            </a:r>
            <a:endParaRPr lang="zh-CN" alt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7297E6C9-E0E0-CDF8-EBDB-D9B009F95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1748" y="5705663"/>
            <a:ext cx="5057502" cy="384810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96B5AC3F-93F0-D829-3B03-8541520898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40548" y="2441448"/>
            <a:ext cx="5218735" cy="5048081"/>
          </a:xfrm>
          <a:prstGeom prst="rect">
            <a:avLst/>
          </a:prstGeom>
        </p:spPr>
      </p:pic>
      <p:sp>
        <p:nvSpPr>
          <p:cNvPr id="24" name="TextBox 6">
            <a:extLst>
              <a:ext uri="{FF2B5EF4-FFF2-40B4-BE49-F238E27FC236}">
                <a16:creationId xmlns:a16="http://schemas.microsoft.com/office/drawing/2014/main" id="{79DF7C47-B22B-F320-E524-F1C326B33D31}"/>
              </a:ext>
            </a:extLst>
          </p:cNvPr>
          <p:cNvSpPr txBox="1"/>
          <p:nvPr/>
        </p:nvSpPr>
        <p:spPr>
          <a:xfrm>
            <a:off x="7543800" y="7771753"/>
            <a:ext cx="14068744" cy="618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5756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Physics asset</a:t>
            </a:r>
            <a:r>
              <a:rPr lang="zh-CN" altLang="en-US" sz="28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配置</a:t>
            </a:r>
            <a:endParaRPr lang="en-US" sz="2800" dirty="0">
              <a:solidFill>
                <a:srgbClr val="FFFFFF"/>
              </a:solidFill>
              <a:latin typeface="梅明朝"/>
              <a:ea typeface="梅明朝"/>
              <a:cs typeface="梅明朝"/>
              <a:sym typeface="梅明朝"/>
            </a:endParaRPr>
          </a:p>
        </p:txBody>
      </p:sp>
    </p:spTree>
    <p:extLst>
      <p:ext uri="{BB962C8B-B14F-4D97-AF65-F5344CB8AC3E}">
        <p14:creationId xmlns:p14="http://schemas.microsoft.com/office/powerpoint/2010/main" val="16947122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5E21B-0F96-BE36-3EFD-A58A2549E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EE275AEA-10FD-25D7-CB6D-59F323B33688}"/>
              </a:ext>
            </a:extLst>
          </p:cNvPr>
          <p:cNvSpPr txBox="1"/>
          <p:nvPr/>
        </p:nvSpPr>
        <p:spPr>
          <a:xfrm>
            <a:off x="-3581400" y="-342900"/>
            <a:ext cx="12585609" cy="1316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02"/>
              </a:lnSpc>
              <a:spcBef>
                <a:spcPct val="0"/>
              </a:spcBef>
            </a:pPr>
            <a:r>
              <a:rPr lang="zh-CN" altLang="en-US" sz="4800" dirty="0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杂项蓝图效果展示</a:t>
            </a:r>
            <a:endParaRPr lang="en-US" sz="4800" dirty="0">
              <a:solidFill>
                <a:srgbClr val="FFFFFF"/>
              </a:solidFill>
              <a:latin typeface="IPAex 明朝"/>
              <a:ea typeface="IPAex 明朝"/>
              <a:cs typeface="IPAex 明朝"/>
              <a:sym typeface="IPAex 明朝"/>
            </a:endParaRP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FB3E28CD-A7CF-E839-1C6C-E75A75E0E584}"/>
              </a:ext>
            </a:extLst>
          </p:cNvPr>
          <p:cNvSpPr txBox="1"/>
          <p:nvPr/>
        </p:nvSpPr>
        <p:spPr>
          <a:xfrm>
            <a:off x="8153400" y="6329"/>
            <a:ext cx="8248043" cy="6184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756"/>
              </a:lnSpc>
              <a:spcBef>
                <a:spcPct val="0"/>
              </a:spcBef>
            </a:pPr>
            <a:r>
              <a:rPr lang="zh-CN" altLang="en-US" sz="28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以下为本人笔记内容</a:t>
            </a:r>
            <a:endParaRPr lang="en-US" sz="2800" dirty="0">
              <a:solidFill>
                <a:srgbClr val="FFFFFF"/>
              </a:solidFill>
              <a:latin typeface="梅明朝"/>
              <a:ea typeface="梅明朝"/>
              <a:cs typeface="梅明朝"/>
              <a:sym typeface="梅明朝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EBF231C9-4063-85AF-1C0A-47C772AFF41C}"/>
              </a:ext>
            </a:extLst>
          </p:cNvPr>
          <p:cNvSpPr txBox="1"/>
          <p:nvPr/>
        </p:nvSpPr>
        <p:spPr>
          <a:xfrm>
            <a:off x="-152400" y="8534642"/>
            <a:ext cx="14068744" cy="618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56"/>
              </a:lnSpc>
              <a:spcBef>
                <a:spcPct val="0"/>
              </a:spcBef>
            </a:pPr>
            <a:endParaRPr lang="en-US" sz="2800" dirty="0">
              <a:solidFill>
                <a:srgbClr val="FFFFFF"/>
              </a:solidFill>
              <a:latin typeface="梅明朝"/>
              <a:ea typeface="梅明朝"/>
              <a:cs typeface="梅明朝"/>
              <a:sym typeface="梅明朝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4B26D5C-6834-015E-767C-1B32D0F37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6668" y="1495532"/>
            <a:ext cx="4943192" cy="442879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14A0F5D-329B-8D76-0A2B-E6EF61EED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60" y="4373255"/>
            <a:ext cx="5943600" cy="550626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0430785-A728-FA83-D027-D32FB0141E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527" y="1319854"/>
            <a:ext cx="6806874" cy="460447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8215E898-53D9-71CD-8762-7EBBBD0309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382" y="6103141"/>
            <a:ext cx="10067670" cy="377637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131D0F15-4781-FDB7-A214-B9835DDD6A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660" y="1385881"/>
            <a:ext cx="5943600" cy="266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0231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3CCD3-BF27-A6D9-C845-50BA0A002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22D196D-4F4C-F423-3DDD-C62842F2576E}"/>
              </a:ext>
            </a:extLst>
          </p:cNvPr>
          <p:cNvSpPr txBox="1"/>
          <p:nvPr/>
        </p:nvSpPr>
        <p:spPr>
          <a:xfrm>
            <a:off x="1028700" y="7945718"/>
            <a:ext cx="2636098" cy="32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8"/>
              </a:lnSpc>
            </a:pPr>
            <a:r>
              <a:rPr lang="en-US" sz="2408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2971762643@qq.com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3BF93CD-5D60-295B-7237-3714286173B7}"/>
              </a:ext>
            </a:extLst>
          </p:cNvPr>
          <p:cNvSpPr txBox="1"/>
          <p:nvPr/>
        </p:nvSpPr>
        <p:spPr>
          <a:xfrm>
            <a:off x="926848" y="8827076"/>
            <a:ext cx="6012386" cy="1867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5"/>
              </a:lnSpc>
            </a:pPr>
            <a:r>
              <a:rPr lang="en-US" sz="7195" b="1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PORTFOLIO</a:t>
            </a:r>
          </a:p>
          <a:p>
            <a:pPr algn="l">
              <a:lnSpc>
                <a:spcPts val="7195"/>
              </a:lnSpc>
            </a:pPr>
            <a:endParaRPr lang="en-US" sz="7195" b="1">
              <a:solidFill>
                <a:srgbClr val="FFFFFF"/>
              </a:solidFill>
              <a:latin typeface="TT Ramillas Bold"/>
              <a:ea typeface="TT Ramillas Bold"/>
              <a:cs typeface="TT Ramillas Bold"/>
              <a:sym typeface="TT Ramillas Bold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A93B9C3-B6A1-73E8-DBD3-55FD4CD55C3B}"/>
              </a:ext>
            </a:extLst>
          </p:cNvPr>
          <p:cNvSpPr txBox="1"/>
          <p:nvPr/>
        </p:nvSpPr>
        <p:spPr>
          <a:xfrm>
            <a:off x="1028700" y="8338244"/>
            <a:ext cx="4092532" cy="474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8"/>
              </a:lnSpc>
            </a:pPr>
            <a:r>
              <a:rPr lang="en-US" sz="3738" dirty="0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李东盛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0825A45-8CCC-EB33-C28B-F1D7DF630AAB}"/>
              </a:ext>
            </a:extLst>
          </p:cNvPr>
          <p:cNvSpPr txBox="1"/>
          <p:nvPr/>
        </p:nvSpPr>
        <p:spPr>
          <a:xfrm>
            <a:off x="1028700" y="7581768"/>
            <a:ext cx="2636098" cy="32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8"/>
              </a:lnSpc>
            </a:pPr>
            <a:r>
              <a:rPr lang="en-US" sz="2408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18098302488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A3683B2-7EEA-235B-EA34-756A33CA8A17}"/>
              </a:ext>
            </a:extLst>
          </p:cNvPr>
          <p:cNvSpPr txBox="1"/>
          <p:nvPr/>
        </p:nvSpPr>
        <p:spPr>
          <a:xfrm>
            <a:off x="5087073" y="129710"/>
            <a:ext cx="10198124" cy="561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210"/>
              </a:lnSpc>
              <a:spcBef>
                <a:spcPct val="0"/>
              </a:spcBef>
            </a:pPr>
            <a:r>
              <a:rPr lang="zh-CN" altLang="en-US" sz="96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横向领域拓展</a:t>
            </a:r>
            <a:endParaRPr lang="en-US" sz="9600" dirty="0">
              <a:solidFill>
                <a:srgbClr val="FFFFFF"/>
              </a:solidFill>
              <a:latin typeface="梅明朝"/>
              <a:ea typeface="梅明朝"/>
              <a:cs typeface="梅明朝"/>
              <a:sym typeface="梅明朝"/>
            </a:endParaRPr>
          </a:p>
        </p:txBody>
      </p:sp>
    </p:spTree>
    <p:extLst>
      <p:ext uri="{BB962C8B-B14F-4D97-AF65-F5344CB8AC3E}">
        <p14:creationId xmlns:p14="http://schemas.microsoft.com/office/powerpoint/2010/main" val="22714203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1FFAA-67BC-264B-AF89-6BACF045D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D17E1F36-3D85-69EC-78B7-E21725C02EB7}"/>
              </a:ext>
            </a:extLst>
          </p:cNvPr>
          <p:cNvSpPr txBox="1"/>
          <p:nvPr/>
        </p:nvSpPr>
        <p:spPr>
          <a:xfrm>
            <a:off x="-8458200" y="419100"/>
            <a:ext cx="21578683" cy="622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22"/>
              </a:lnSpc>
              <a:spcBef>
                <a:spcPct val="0"/>
              </a:spcBef>
            </a:pPr>
            <a:r>
              <a:rPr lang="zh-CN" altLang="en-US" sz="3658" dirty="0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以及多个横向领域</a:t>
            </a:r>
            <a:endParaRPr lang="en-US" sz="3658" dirty="0">
              <a:solidFill>
                <a:srgbClr val="FFFFFF"/>
              </a:solidFill>
              <a:latin typeface="IPAex 明朝"/>
              <a:ea typeface="IPAex 明朝"/>
              <a:cs typeface="IPAex 明朝"/>
              <a:sym typeface="IPAex 明朝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8E7F574-16E4-0CEB-3230-868DF850D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24500"/>
            <a:ext cx="9448800" cy="643549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388ED34E-5373-5647-F9E5-74C22CA06386}"/>
              </a:ext>
            </a:extLst>
          </p:cNvPr>
          <p:cNvSpPr txBox="1"/>
          <p:nvPr/>
        </p:nvSpPr>
        <p:spPr>
          <a:xfrm>
            <a:off x="-3075661" y="4563318"/>
            <a:ext cx="14894104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ts val="5122"/>
              </a:lnSpc>
              <a:spcBef>
                <a:spcPct val="0"/>
              </a:spcBef>
            </a:pPr>
            <a:r>
              <a:rPr lang="zh-CN" altLang="en-US" sz="4400" dirty="0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数字可视化（基于</a:t>
            </a:r>
            <a:r>
              <a:rPr lang="en-US" altLang="zh-CN" sz="4400" dirty="0" err="1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Threejs</a:t>
            </a:r>
            <a:r>
              <a:rPr lang="zh-CN" altLang="en-US" sz="4400" dirty="0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渲染）</a:t>
            </a:r>
            <a:endParaRPr lang="en-US" altLang="zh-CN" sz="4400" dirty="0">
              <a:solidFill>
                <a:srgbClr val="FFFFFF"/>
              </a:solidFill>
              <a:latin typeface="IPAex 明朝"/>
              <a:ea typeface="IPAex 明朝"/>
              <a:cs typeface="IPAex 明朝"/>
              <a:sym typeface="IPAex 明朝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1040186-68ED-A83A-A621-12EBF73AE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5400" y="6667500"/>
            <a:ext cx="5296639" cy="371526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5A28795-F55B-B3AB-226C-8E40CDD89B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357948"/>
            <a:ext cx="8814079" cy="5461952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48498319-5AB7-1E42-E857-C7FD93721CBF}"/>
              </a:ext>
            </a:extLst>
          </p:cNvPr>
          <p:cNvSpPr txBox="1"/>
          <p:nvPr/>
        </p:nvSpPr>
        <p:spPr>
          <a:xfrm>
            <a:off x="5410200" y="488074"/>
            <a:ext cx="13374414" cy="74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ts val="5122"/>
              </a:lnSpc>
              <a:spcBef>
                <a:spcPct val="0"/>
              </a:spcBef>
            </a:pPr>
            <a:r>
              <a:rPr lang="zh-CN" altLang="en-US" sz="4800" dirty="0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电商渲染图（基于</a:t>
            </a:r>
            <a:r>
              <a:rPr lang="en-US" altLang="zh-CN" sz="4800" dirty="0" err="1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Vray</a:t>
            </a:r>
            <a:r>
              <a:rPr lang="zh-CN" altLang="en-US" sz="4800" dirty="0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）</a:t>
            </a:r>
            <a:endParaRPr lang="en-US" altLang="zh-CN" sz="4800" dirty="0">
              <a:solidFill>
                <a:srgbClr val="FFFFFF"/>
              </a:solidFill>
              <a:latin typeface="IPAex 明朝"/>
              <a:ea typeface="IPAex 明朝"/>
              <a:cs typeface="IPAex 明朝"/>
              <a:sym typeface="IPAex 明朝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7DEC72E-DF79-FF85-1657-891D1761342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691" y="1193704"/>
            <a:ext cx="6629400" cy="344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3022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8045C-35B5-EEA8-B1B1-FC6352AEE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96F31F3F-9F66-F1E2-F02E-76386248D055}"/>
              </a:ext>
            </a:extLst>
          </p:cNvPr>
          <p:cNvSpPr txBox="1"/>
          <p:nvPr/>
        </p:nvSpPr>
        <p:spPr>
          <a:xfrm>
            <a:off x="-457200" y="114300"/>
            <a:ext cx="13374414" cy="140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ts val="5122"/>
              </a:lnSpc>
              <a:spcBef>
                <a:spcPct val="0"/>
              </a:spcBef>
            </a:pPr>
            <a:r>
              <a:rPr lang="zh-CN" altLang="en-US" sz="4800" dirty="0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基于</a:t>
            </a:r>
            <a:r>
              <a:rPr lang="en-US" altLang="zh-CN" sz="4800" dirty="0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python</a:t>
            </a:r>
            <a:r>
              <a:rPr lang="zh-CN" altLang="en-US" sz="4800" dirty="0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的调用</a:t>
            </a:r>
            <a:r>
              <a:rPr lang="en-US" altLang="zh-CN" sz="4800" dirty="0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Blender</a:t>
            </a:r>
            <a:r>
              <a:rPr lang="zh-CN" altLang="en-US" sz="4800" dirty="0">
                <a:solidFill>
                  <a:srgbClr val="FFFFFF"/>
                </a:solidFill>
                <a:latin typeface="IPAex 明朝"/>
                <a:ea typeface="IPAex 明朝"/>
                <a:cs typeface="IPAex 明朝"/>
                <a:sym typeface="IPAex 明朝"/>
              </a:rPr>
              <a:t>快速修复模型插件</a:t>
            </a:r>
            <a:endParaRPr lang="en-US" altLang="zh-CN" sz="4800" dirty="0">
              <a:solidFill>
                <a:srgbClr val="FFFFFF"/>
              </a:solidFill>
              <a:latin typeface="IPAex 明朝"/>
              <a:ea typeface="IPAex 明朝"/>
              <a:cs typeface="IPAex 明朝"/>
              <a:sym typeface="IPAex 明朝"/>
            </a:endParaRPr>
          </a:p>
          <a:p>
            <a:pPr lvl="0" algn="ctr">
              <a:lnSpc>
                <a:spcPts val="5122"/>
              </a:lnSpc>
              <a:spcBef>
                <a:spcPct val="0"/>
              </a:spcBef>
            </a:pPr>
            <a:r>
              <a:rPr lang="zh-CN" altLang="zh-CN" sz="4800" dirty="0">
                <a:hlinkClick r:id="rId2"/>
              </a:rPr>
              <a:t>AaronSwartz0217/BLENDER-PYTHON</a:t>
            </a:r>
            <a:endParaRPr lang="en-US" altLang="zh-CN" sz="4800" dirty="0">
              <a:solidFill>
                <a:srgbClr val="FFFFFF"/>
              </a:solidFill>
              <a:latin typeface="IPAex 明朝"/>
              <a:ea typeface="IPAex 明朝"/>
              <a:cs typeface="IPAex 明朝"/>
              <a:sym typeface="IPAex 明朝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281BB62-683B-9DAE-1837-52FF1423B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638300"/>
            <a:ext cx="7789333" cy="70104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FFB74B8-E8F1-8EF4-093C-7C84152DCCED}"/>
              </a:ext>
            </a:extLst>
          </p:cNvPr>
          <p:cNvSpPr txBox="1"/>
          <p:nvPr/>
        </p:nvSpPr>
        <p:spPr>
          <a:xfrm>
            <a:off x="304800" y="8786606"/>
            <a:ext cx="16383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dirty="0"/>
              <a:t>本项目提供一个基于 Blender 和 Python 的自动化 3D 模型处理工作流，支持模型导入、格式转换、变换操作、材质添加、网格优化等功能。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CEB4F23-36EC-F529-5A84-E1CAE1FEEF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6300" y="1569341"/>
            <a:ext cx="7734300" cy="696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4874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05862-F6F0-E7D6-2D6E-27D6776EE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254ED087-176E-20A0-8A5C-B0D313CE56D3}"/>
              </a:ext>
            </a:extLst>
          </p:cNvPr>
          <p:cNvSpPr txBox="1"/>
          <p:nvPr/>
        </p:nvSpPr>
        <p:spPr>
          <a:xfrm>
            <a:off x="1028700" y="7945718"/>
            <a:ext cx="2636098" cy="32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8"/>
              </a:lnSpc>
            </a:pPr>
            <a:r>
              <a:rPr lang="en-US" sz="2408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2971762643@qq.com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AD7A3C9-8DA4-3C4F-8D0F-B2880ABB7A0A}"/>
              </a:ext>
            </a:extLst>
          </p:cNvPr>
          <p:cNvSpPr txBox="1"/>
          <p:nvPr/>
        </p:nvSpPr>
        <p:spPr>
          <a:xfrm>
            <a:off x="926848" y="8827076"/>
            <a:ext cx="6012386" cy="1867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5"/>
              </a:lnSpc>
            </a:pPr>
            <a:r>
              <a:rPr lang="en-US" sz="7195" b="1">
                <a:solidFill>
                  <a:srgbClr val="FFFFFF"/>
                </a:solidFill>
                <a:latin typeface="TT Ramillas Bold"/>
                <a:ea typeface="TT Ramillas Bold"/>
                <a:cs typeface="TT Ramillas Bold"/>
                <a:sym typeface="TT Ramillas Bold"/>
              </a:rPr>
              <a:t>PORTFOLIO</a:t>
            </a:r>
          </a:p>
          <a:p>
            <a:pPr algn="l">
              <a:lnSpc>
                <a:spcPts val="7195"/>
              </a:lnSpc>
            </a:pPr>
            <a:endParaRPr lang="en-US" sz="7195" b="1">
              <a:solidFill>
                <a:srgbClr val="FFFFFF"/>
              </a:solidFill>
              <a:latin typeface="TT Ramillas Bold"/>
              <a:ea typeface="TT Ramillas Bold"/>
              <a:cs typeface="TT Ramillas Bold"/>
              <a:sym typeface="TT Ramillas Bold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2CF2815-2310-45DF-AD56-EBC2107E957D}"/>
              </a:ext>
            </a:extLst>
          </p:cNvPr>
          <p:cNvSpPr txBox="1"/>
          <p:nvPr/>
        </p:nvSpPr>
        <p:spPr>
          <a:xfrm>
            <a:off x="1028700" y="8338244"/>
            <a:ext cx="4092532" cy="474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8"/>
              </a:lnSpc>
            </a:pPr>
            <a:r>
              <a:rPr lang="en-US" sz="3738" dirty="0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李东盛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E675973-DC57-3A50-BF7A-B36872786C4A}"/>
              </a:ext>
            </a:extLst>
          </p:cNvPr>
          <p:cNvSpPr txBox="1"/>
          <p:nvPr/>
        </p:nvSpPr>
        <p:spPr>
          <a:xfrm>
            <a:off x="1028700" y="7581768"/>
            <a:ext cx="2636098" cy="32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8"/>
              </a:lnSpc>
            </a:pPr>
            <a:r>
              <a:rPr lang="en-US" sz="2408" dirty="0">
                <a:solidFill>
                  <a:srgbClr val="FFFFFF"/>
                </a:solidFill>
                <a:latin typeface="Crimson Pro"/>
                <a:ea typeface="Crimson Pro"/>
                <a:cs typeface="Crimson Pro"/>
                <a:sym typeface="Crimson Pro"/>
              </a:rPr>
              <a:t>18098302488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B919A30-BBE2-3E5C-9688-E790D05E9CEB}"/>
              </a:ext>
            </a:extLst>
          </p:cNvPr>
          <p:cNvSpPr txBox="1"/>
          <p:nvPr/>
        </p:nvSpPr>
        <p:spPr>
          <a:xfrm>
            <a:off x="-354034" y="-3597643"/>
            <a:ext cx="6858000" cy="56130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6210"/>
              </a:lnSpc>
              <a:spcBef>
                <a:spcPct val="0"/>
              </a:spcBef>
            </a:pPr>
            <a:r>
              <a:rPr lang="zh-CN" altLang="en-US" sz="9600" dirty="0">
                <a:solidFill>
                  <a:srgbClr val="FFFFFF"/>
                </a:solidFill>
                <a:latin typeface="梅明朝"/>
                <a:ea typeface="梅明朝"/>
                <a:cs typeface="梅明朝"/>
                <a:sym typeface="梅明朝"/>
              </a:rPr>
              <a:t>游戏经历</a:t>
            </a:r>
            <a:endParaRPr lang="en-US" sz="9600" dirty="0">
              <a:solidFill>
                <a:srgbClr val="FFFFFF"/>
              </a:solidFill>
              <a:latin typeface="梅明朝"/>
              <a:ea typeface="梅明朝"/>
              <a:cs typeface="梅明朝"/>
              <a:sym typeface="梅明朝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A66DDFE-F19D-B4FA-D9BE-1D8C99F13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800100"/>
            <a:ext cx="8458200" cy="8525865"/>
          </a:xfrm>
          <a:prstGeom prst="rect">
            <a:avLst/>
          </a:prstGeom>
        </p:spPr>
      </p:pic>
      <p:pic>
        <p:nvPicPr>
          <p:cNvPr id="3" name="图片 2" descr="ISTP型人格特点性格分析-优缺点及适合的工作(MBTI解读)-测智网">
            <a:extLst>
              <a:ext uri="{FF2B5EF4-FFF2-40B4-BE49-F238E27FC236}">
                <a16:creationId xmlns:a16="http://schemas.microsoft.com/office/drawing/2014/main" id="{F4C5DD95-6BD3-0E90-D590-59A4837AA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45" y="2828667"/>
            <a:ext cx="4609642" cy="393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626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509</Words>
  <Application>Microsoft Office PowerPoint</Application>
  <PresentationFormat>自定义</PresentationFormat>
  <Paragraphs>90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8" baseType="lpstr">
      <vt:lpstr>Calibri</vt:lpstr>
      <vt:lpstr>quote-cjk-patch</vt:lpstr>
      <vt:lpstr>Crimson Pro</vt:lpstr>
      <vt:lpstr>IPAex 明朝</vt:lpstr>
      <vt:lpstr>梅明朝</vt:lpstr>
      <vt:lpstr>TT Ramillas Bold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White Dark Experimental Photography Portfolio Website</dc:title>
  <dc:creator>李东盛</dc:creator>
  <cp:lastModifiedBy>东盛 李</cp:lastModifiedBy>
  <cp:revision>47</cp:revision>
  <dcterms:created xsi:type="dcterms:W3CDTF">2006-08-16T00:00:00Z</dcterms:created>
  <dcterms:modified xsi:type="dcterms:W3CDTF">2026-07-20T09:48:34Z</dcterms:modified>
  <dc:identifier>DAGiFpZfIDE</dc:identifier>
</cp:coreProperties>
</file>